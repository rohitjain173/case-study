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385" r:id="rId3"/>
    <p:sldId id="410" r:id="rId4"/>
    <p:sldId id="386" r:id="rId5"/>
    <p:sldId id="394" r:id="rId6"/>
    <p:sldId id="396" r:id="rId7"/>
    <p:sldId id="402" r:id="rId8"/>
    <p:sldId id="404" r:id="rId9"/>
    <p:sldId id="406" r:id="rId10"/>
    <p:sldId id="409" r:id="rId11"/>
    <p:sldId id="398" r:id="rId12"/>
    <p:sldId id="412" r:id="rId13"/>
    <p:sldId id="411" r:id="rId14"/>
    <p:sldId id="4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2022" autoAdjust="0"/>
  </p:normalViewPr>
  <p:slideViewPr>
    <p:cSldViewPr snapToGrid="0">
      <p:cViewPr varScale="1">
        <p:scale>
          <a:sx n="75" d="100"/>
          <a:sy n="75" d="100"/>
        </p:scale>
        <p:origin x="96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9C71-2B0D-DABB-E1C4-F6E2B7441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D8DAAA-6335-3FCE-72C7-DE9C68A5D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279663-197B-13FF-4B21-9A5C760FD985}"/>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9041BD36-26CC-6982-AAD6-8B83717B4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9EEFE-6221-361F-B5C4-99C611E6E23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3202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94B2-09D7-732B-63C3-4F3E2470C8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0BEEE3-D387-91CE-4226-3F4F6CA25E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29C2D-7BE2-9281-0AA9-599359831AC5}"/>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214D5ED1-2D7F-91E2-E62F-5A702C39C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D2F6FE-B0D1-603C-3188-848C2CE74AB9}"/>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003316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5D5B-0AB9-6D37-694D-D70A693A22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6AC85A-EB98-059A-B85A-D8807CF039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3B9270-B81A-4E38-7D67-790B63676FC3}"/>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15B749FD-93B6-07D9-CC72-3B6A5384EF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DA560D-6F55-AF8C-F52B-445B8CC0909C}"/>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943001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0795-EEAE-73CF-35A1-4186054B8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6294B4-3518-F128-3F7C-23A5652A7D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EC1335-7544-BB9B-846C-8090983D1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979A23-0F01-3CF6-2FFE-D35137BBB8B3}"/>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6" name="Footer Placeholder 5">
            <a:extLst>
              <a:ext uri="{FF2B5EF4-FFF2-40B4-BE49-F238E27FC236}">
                <a16:creationId xmlns:a16="http://schemas.microsoft.com/office/drawing/2014/main" id="{15131BD4-6A44-63AD-AAD0-0602FBCDBB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97239A-1724-1F87-8E39-5B483188A50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42365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D9A6-ABFF-FB95-1738-2A9BF7E6AD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824328-DF70-89A7-F4E6-10ADC4B7BB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99227-9F90-497F-25ED-5262AC8289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D527BB-FCF2-EA32-A6AD-FDFD10D1E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0D6F29-DE0E-20A4-14C8-106724461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307759-E242-2779-D246-E147FD5E70C2}"/>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8" name="Footer Placeholder 7">
            <a:extLst>
              <a:ext uri="{FF2B5EF4-FFF2-40B4-BE49-F238E27FC236}">
                <a16:creationId xmlns:a16="http://schemas.microsoft.com/office/drawing/2014/main" id="{D0F4E827-5FC0-0C3B-E314-05E913D526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E2975C-8463-095D-B718-E97AC29362C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49091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8193-8FAD-6722-E29A-96F83F5254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0A97C3-5871-2950-4C07-F7E44C0E9B1A}"/>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4" name="Footer Placeholder 3">
            <a:extLst>
              <a:ext uri="{FF2B5EF4-FFF2-40B4-BE49-F238E27FC236}">
                <a16:creationId xmlns:a16="http://schemas.microsoft.com/office/drawing/2014/main" id="{BC12384A-35FF-294B-54FB-1F6C82E5C3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0A8E05-B53C-237A-A158-290EDFFD63A6}"/>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70480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23531C-DEA4-CADA-989D-A71F8F6CD6B8}"/>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3" name="Footer Placeholder 2">
            <a:extLst>
              <a:ext uri="{FF2B5EF4-FFF2-40B4-BE49-F238E27FC236}">
                <a16:creationId xmlns:a16="http://schemas.microsoft.com/office/drawing/2014/main" id="{F7869337-E4D2-0EF5-585B-B3CE40065C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1D9421E-6E18-2D4B-731B-2EDBA610C1E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8391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52AA-6519-0656-073E-87FCD2487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CB06CE3-ED91-7C9A-1253-045349019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65DCCE-8FCC-0E1F-AC0F-8F02E2E546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2ABC47-A839-578D-6B3A-61BF22C6078F}"/>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6" name="Footer Placeholder 5">
            <a:extLst>
              <a:ext uri="{FF2B5EF4-FFF2-40B4-BE49-F238E27FC236}">
                <a16:creationId xmlns:a16="http://schemas.microsoft.com/office/drawing/2014/main" id="{08B025D2-7E25-6D30-2BFB-BDB6D5C7A7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D7D67-A07B-79D5-F308-B37EE72E79BA}"/>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78656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DA48A-C817-B190-3BDC-AF6557FE8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690C8C-2E44-C10C-8756-4DB25362B9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E12DC8-8FC2-02B8-8F29-B116BB21C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FFD3D-1D16-953E-ADDD-DE83175DFF48}"/>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6" name="Footer Placeholder 5">
            <a:extLst>
              <a:ext uri="{FF2B5EF4-FFF2-40B4-BE49-F238E27FC236}">
                <a16:creationId xmlns:a16="http://schemas.microsoft.com/office/drawing/2014/main" id="{878281C0-BD97-DB8D-06D5-B48F1A49A9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26A87-3672-6312-823D-B9273D0C9B85}"/>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2791137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36E8-A97B-B4ED-D1F3-F9DFFFFEAB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9E22F-1FC1-FBDB-FAE3-ACA4D49C5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7C2EDB-3F8C-2B37-76B6-6C32C14C8904}"/>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C9DB1550-21BF-AFC9-E221-519EF1C57F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637BA9-8E36-EE50-FD6B-E5C9DDDC798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384689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09A66E-4982-C420-D99A-2183522AD3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8D1791-07BD-C2FD-8BD7-F958BD897A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1618F8-FB8C-8FB2-2C76-664D1934DC9F}"/>
              </a:ext>
            </a:extLst>
          </p:cNvPr>
          <p:cNvSpPr>
            <a:spLocks noGrp="1"/>
          </p:cNvSpPr>
          <p:nvPr>
            <p:ph type="dt" sz="half" idx="10"/>
          </p:nvPr>
        </p:nvSpPr>
        <p:spPr/>
        <p:txBody>
          <a:body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2C1F704D-E81B-E923-E7C6-A573C855C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DE9DB-78F4-D3CE-562F-B86F7CCFF9D2}"/>
              </a:ext>
            </a:extLst>
          </p:cNvPr>
          <p:cNvSpPr>
            <a:spLocks noGrp="1"/>
          </p:cNvSpPr>
          <p:nvPr>
            <p:ph type="sldNum" sz="quarter" idx="12"/>
          </p:nvPr>
        </p:nvSpPr>
        <p:spPr/>
        <p:txBody>
          <a:bodyPr/>
          <a:lstStyle/>
          <a:p>
            <a:fld id="{3B3D7D92-63F6-4137-895D-83836DF0D0AD}" type="slidenum">
              <a:rPr lang="en-IN" smtClean="0"/>
              <a:t>‹#›</a:t>
            </a:fld>
            <a:endParaRPr lang="en-IN"/>
          </a:p>
        </p:txBody>
      </p:sp>
    </p:spTree>
    <p:extLst>
      <p:ext uri="{BB962C8B-B14F-4D97-AF65-F5344CB8AC3E}">
        <p14:creationId xmlns:p14="http://schemas.microsoft.com/office/powerpoint/2010/main" val="1235851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143207798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270827718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5/1/2026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11210543"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3044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5/1/2026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29869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932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5/1/2026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213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5/1/2026</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67445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2F8185-9B03-AEBB-C5B4-12AC7D3A2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914515-6A39-3766-77BD-A760FE081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DD25F-D9C4-0BDE-4059-79713EF24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14BAEA-26FF-4E5F-A2D4-1A5C8E994770}" type="datetimeFigureOut">
              <a:rPr lang="en-IN" smtClean="0"/>
              <a:t>01-05-2026</a:t>
            </a:fld>
            <a:endParaRPr lang="en-IN"/>
          </a:p>
        </p:txBody>
      </p:sp>
      <p:sp>
        <p:nvSpPr>
          <p:cNvPr id="5" name="Footer Placeholder 4">
            <a:extLst>
              <a:ext uri="{FF2B5EF4-FFF2-40B4-BE49-F238E27FC236}">
                <a16:creationId xmlns:a16="http://schemas.microsoft.com/office/drawing/2014/main" id="{543E0A9E-5BF1-1B01-9D3C-D04AF2625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1F19753-37AF-A564-097A-6320B6514B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3D7D92-63F6-4137-895D-83836DF0D0AD}" type="slidenum">
              <a:rPr lang="en-IN" smtClean="0"/>
              <a:t>‹#›</a:t>
            </a:fld>
            <a:endParaRPr lang="en-IN"/>
          </a:p>
        </p:txBody>
      </p:sp>
    </p:spTree>
    <p:extLst>
      <p:ext uri="{BB962C8B-B14F-4D97-AF65-F5344CB8AC3E}">
        <p14:creationId xmlns:p14="http://schemas.microsoft.com/office/powerpoint/2010/main" val="1101099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19099" y="6427391"/>
            <a:ext cx="3276600" cy="141686"/>
          </a:xfrm>
          <a:prstGeom prst="rect">
            <a:avLst/>
          </a:prstGeom>
        </p:spPr>
        <p:txBody>
          <a:bodyPr vert="horz" lIns="91440" tIns="45720" rIns="91440" bIns="45720" rtlCol="0" anchor="ctr"/>
          <a:lstStyle>
            <a:lvl1pPr algn="l">
              <a:defRPr sz="800" baseline="0">
                <a:solidFill>
                  <a:schemeClr val="tx1">
                    <a:lumMod val="65000"/>
                    <a:lumOff val="35000"/>
                  </a:schemeClr>
                </a:solidFill>
              </a:defRPr>
            </a:lvl1pPr>
          </a:lstStyle>
          <a:p>
            <a:fld id="{8BEEBAAA-29B5-4AF5-BC5F-7E580C29002D}" type="datetimeFigureOut">
              <a:rPr lang="en-US" smtClean="0"/>
              <a:pPr/>
              <a:t>5/1/2026</a:t>
            </a:fld>
            <a:endParaRPr lang="en-US"/>
          </a:p>
        </p:txBody>
      </p:sp>
      <p:sp>
        <p:nvSpPr>
          <p:cNvPr id="5" name="Footer Placeholder 4"/>
          <p:cNvSpPr>
            <a:spLocks noGrp="1"/>
          </p:cNvSpPr>
          <p:nvPr>
            <p:ph type="ftr" sz="quarter" idx="3"/>
          </p:nvPr>
        </p:nvSpPr>
        <p:spPr>
          <a:xfrm>
            <a:off x="4648200" y="6427391"/>
            <a:ext cx="2895600" cy="141686"/>
          </a:xfrm>
          <a:prstGeom prst="rect">
            <a:avLst/>
          </a:prstGeom>
        </p:spPr>
        <p:txBody>
          <a:bodyPr vert="horz" lIns="91440" tIns="45720" rIns="91440" bIns="45720" rtlCol="0" anchor="ctr"/>
          <a:lstStyle>
            <a:lvl1pPr algn="ctr">
              <a:defRPr sz="8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53042" y="6427391"/>
            <a:ext cx="3276600" cy="141686"/>
          </a:xfrm>
          <a:prstGeom prst="rect">
            <a:avLst/>
          </a:prstGeom>
        </p:spPr>
        <p:txBody>
          <a:bodyPr vert="horz" lIns="91440" tIns="45720" rIns="91440" bIns="45720" rtlCol="0" anchor="ctr"/>
          <a:lstStyle>
            <a:lvl1pPr algn="r">
              <a:defRPr sz="8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7" name="Straight Connector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50198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defTabSz="914400" rtl="0" eaLnBrk="1" latinLnBrk="0" hangingPunct="1">
        <a:spcBef>
          <a:spcPct val="0"/>
        </a:spcBef>
        <a:buNone/>
        <a:defRPr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1000"/>
        </a:spcBef>
        <a:spcAft>
          <a:spcPts val="12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p15:clr>
            <a:srgbClr val="F26B43"/>
          </p15:clr>
        </p15:guide>
        <p15:guide id="2" pos="336">
          <p15:clr>
            <a:srgbClr val="F26B43"/>
          </p15:clr>
        </p15:guide>
        <p15:guide id="3" pos="7320">
          <p15:clr>
            <a:srgbClr val="F26B43"/>
          </p15:clr>
        </p15:guide>
        <p15:guide id="4" orient="horz" pos="912">
          <p15:clr>
            <a:srgbClr val="F26B43"/>
          </p15:clr>
        </p15:guide>
        <p15:guide id="5" orient="horz" pos="264">
          <p15:clr>
            <a:srgbClr val="F26B43"/>
          </p15:clr>
        </p15:guide>
        <p15:guide id="6" orient="horz" pos="696">
          <p15:clr>
            <a:srgbClr val="F26B43"/>
          </p15:clr>
        </p15:guide>
        <p15:guide id="7" pos="3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a:xfrm>
            <a:off x="484156" y="1402080"/>
            <a:ext cx="10935684" cy="1402080"/>
          </a:xfrm>
        </p:spPr>
        <p:txBody>
          <a:bodyPr>
            <a:normAutofit fontScale="90000"/>
          </a:bodyPr>
          <a:lstStyle/>
          <a:p>
            <a:r>
              <a:rPr lang="en-US" dirty="0"/>
              <a:t>Impact of Food Delivery Delays on Order Cancellations</a:t>
            </a:r>
            <a:endParaRPr lang="en-US" dirty="0">
              <a:solidFill>
                <a:schemeClr val="bg2">
                  <a:lumMod val="25000"/>
                </a:schemeClr>
              </a:solidFill>
            </a:endParaRP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a:xfrm>
            <a:off x="484156" y="2926080"/>
            <a:ext cx="4555205" cy="495558"/>
          </a:xfrm>
        </p:spPr>
        <p:txBody>
          <a:bodyPr>
            <a:normAutofit/>
          </a:bodyPr>
          <a:lstStyle/>
          <a:p>
            <a:pPr marL="0" indent="0" algn="l">
              <a:buNone/>
            </a:pPr>
            <a:r>
              <a:rPr lang="en-US" sz="2800" b="0" i="0" dirty="0">
                <a:solidFill>
                  <a:srgbClr val="111827"/>
                </a:solidFill>
                <a:effectLst/>
                <a:latin typeface="Plus Jakarta Sans"/>
              </a:rPr>
              <a:t>Case studies </a:t>
            </a:r>
          </a:p>
        </p:txBody>
      </p:sp>
      <p:pic>
        <p:nvPicPr>
          <p:cNvPr id="6" name="Picture 5">
            <a:extLst>
              <a:ext uri="{FF2B5EF4-FFF2-40B4-BE49-F238E27FC236}">
                <a16:creationId xmlns:a16="http://schemas.microsoft.com/office/drawing/2014/main" id="{5CDAAF84-6799-6B2D-F489-A4BE41519802}"/>
              </a:ext>
            </a:extLst>
          </p:cNvPr>
          <p:cNvPicPr>
            <a:picLocks noChangeAspect="1"/>
          </p:cNvPicPr>
          <p:nvPr/>
        </p:nvPicPr>
        <p:blipFill>
          <a:blip r:embed="rId2"/>
          <a:stretch>
            <a:fillRect/>
          </a:stretch>
        </p:blipFill>
        <p:spPr>
          <a:xfrm>
            <a:off x="1" y="0"/>
            <a:ext cx="12192000" cy="1054359"/>
          </a:xfrm>
          <a:prstGeom prst="rect">
            <a:avLst/>
          </a:prstGeom>
        </p:spPr>
      </p:pic>
      <p:sp>
        <p:nvSpPr>
          <p:cNvPr id="8" name="TextBox 7">
            <a:extLst>
              <a:ext uri="{FF2B5EF4-FFF2-40B4-BE49-F238E27FC236}">
                <a16:creationId xmlns:a16="http://schemas.microsoft.com/office/drawing/2014/main" id="{FB8A530D-F277-A918-4CBF-588974B4A57C}"/>
              </a:ext>
            </a:extLst>
          </p:cNvPr>
          <p:cNvSpPr txBox="1"/>
          <p:nvPr/>
        </p:nvSpPr>
        <p:spPr>
          <a:xfrm rot="10800000" flipV="1">
            <a:off x="484156" y="3436362"/>
            <a:ext cx="8229600" cy="830997"/>
          </a:xfrm>
          <a:prstGeom prst="rect">
            <a:avLst/>
          </a:prstGeom>
          <a:noFill/>
        </p:spPr>
        <p:txBody>
          <a:bodyPr wrap="square">
            <a:spAutoFit/>
          </a:bodyPr>
          <a:lstStyle/>
          <a:p>
            <a:r>
              <a:rPr lang="en-US" sz="2400" dirty="0">
                <a:solidFill>
                  <a:schemeClr val="bg2">
                    <a:lumMod val="25000"/>
                  </a:schemeClr>
                </a:solidFill>
              </a:rPr>
              <a:t>Presented by:</a:t>
            </a:r>
          </a:p>
          <a:p>
            <a:r>
              <a:rPr lang="en-US" sz="2400" dirty="0">
                <a:solidFill>
                  <a:schemeClr val="bg2">
                    <a:lumMod val="25000"/>
                  </a:schemeClr>
                </a:solidFill>
              </a:rPr>
              <a:t>Rohit Jain</a:t>
            </a:r>
          </a:p>
        </p:txBody>
      </p:sp>
    </p:spTree>
    <p:extLst>
      <p:ext uri="{BB962C8B-B14F-4D97-AF65-F5344CB8AC3E}">
        <p14:creationId xmlns:p14="http://schemas.microsoft.com/office/powerpoint/2010/main" val="235087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Introduction</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gn="just">
              <a:lnSpc>
                <a:spcPct val="150000"/>
              </a:lnSpc>
            </a:pPr>
            <a:r>
              <a:rPr lang="en-US" sz="2000" dirty="0"/>
              <a:t>Food delivery platforms are growing rapidly, but with this growth comes operational challenges - one of the most critical being delivery delays. Timely delivery plays a crucial role in ensuring customer satisfaction, as customers expect their food to arrive fresh and within the promised time. However, even slight delays can negatively impact the overall customer experience. Delays not only reduce customer satisfaction but also increase the chances of order cancellations and poor ratings. In this analysis, we aim to explore the relationship between delivery delays, order cancellations and customer ratings. By identifying patterns and trends, we can better understand the key factors contributing to delays and how they influence customer behavior.</a:t>
            </a:r>
          </a:p>
        </p:txBody>
      </p:sp>
    </p:spTree>
    <p:extLst>
      <p:ext uri="{BB962C8B-B14F-4D97-AF65-F5344CB8AC3E}">
        <p14:creationId xmlns:p14="http://schemas.microsoft.com/office/powerpoint/2010/main" val="29570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Background</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t>You are working as a data analyst in a food delivery company.</a:t>
            </a:r>
          </a:p>
          <a:p>
            <a:r>
              <a:rPr lang="en-US" sz="2000" dirty="0"/>
              <a:t>The company is facing:</a:t>
            </a:r>
          </a:p>
          <a:p>
            <a:r>
              <a:rPr lang="en-US" sz="2000" dirty="0"/>
              <a:t>High delivery delays </a:t>
            </a:r>
          </a:p>
          <a:p>
            <a:r>
              <a:rPr lang="en-US" sz="2000" dirty="0"/>
              <a:t>Increasing cancellation rates </a:t>
            </a:r>
          </a:p>
          <a:p>
            <a:r>
              <a:rPr lang="en-US" sz="2000" dirty="0"/>
              <a:t>Decreasing customer ratings </a:t>
            </a:r>
          </a:p>
          <a:p>
            <a:r>
              <a:rPr lang="en-US" sz="2000" dirty="0"/>
              <a:t>Management wants to identify the root causes and improve operational efficiency.</a:t>
            </a:r>
          </a:p>
        </p:txBody>
      </p:sp>
    </p:spTree>
    <p:extLst>
      <p:ext uri="{BB962C8B-B14F-4D97-AF65-F5344CB8AC3E}">
        <p14:creationId xmlns:p14="http://schemas.microsoft.com/office/powerpoint/2010/main" val="361986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Business Objective</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595120"/>
            <a:ext cx="9654539" cy="4357811"/>
          </a:xfrm>
        </p:spPr>
        <p:txBody>
          <a:bodyPr>
            <a:normAutofit/>
          </a:bodyPr>
          <a:lstStyle/>
          <a:p>
            <a:pPr marL="342900" indent="-342900">
              <a:buFont typeface="Arial" panose="020B0604020202020204" pitchFamily="34" charset="0"/>
              <a:buChar char="•"/>
            </a:pPr>
            <a:r>
              <a:rPr lang="en-US" sz="2000" dirty="0">
                <a:solidFill>
                  <a:srgbClr val="000000"/>
                </a:solidFill>
              </a:rPr>
              <a:t>Analyze the relationship between delivery delays and cancellations </a:t>
            </a:r>
          </a:p>
          <a:p>
            <a:pPr marL="342900" indent="-342900">
              <a:buFont typeface="Arial" panose="020B0604020202020204" pitchFamily="34" charset="0"/>
              <a:buChar char="•"/>
            </a:pPr>
            <a:r>
              <a:rPr lang="en-US" sz="2000" dirty="0">
                <a:solidFill>
                  <a:srgbClr val="000000"/>
                </a:solidFill>
              </a:rPr>
              <a:t>Identify peak time inefficiencies </a:t>
            </a:r>
          </a:p>
          <a:p>
            <a:pPr marL="342900" indent="-342900">
              <a:buFont typeface="Arial" panose="020B0604020202020204" pitchFamily="34" charset="0"/>
              <a:buChar char="•"/>
            </a:pPr>
            <a:r>
              <a:rPr lang="en-US" sz="2000" dirty="0">
                <a:solidFill>
                  <a:srgbClr val="000000"/>
                </a:solidFill>
              </a:rPr>
              <a:t>Evaluate delivery partner performance </a:t>
            </a:r>
          </a:p>
          <a:p>
            <a:pPr marL="342900" indent="-342900">
              <a:buFont typeface="Arial" panose="020B0604020202020204" pitchFamily="34" charset="0"/>
              <a:buChar char="•"/>
            </a:pPr>
            <a:r>
              <a:rPr lang="en-US" sz="2000" dirty="0">
                <a:solidFill>
                  <a:srgbClr val="000000"/>
                </a:solidFill>
              </a:rPr>
              <a:t>Improve customer experience </a:t>
            </a:r>
          </a:p>
          <a:p>
            <a:pPr marL="342900" indent="-342900">
              <a:buFont typeface="Arial" panose="020B0604020202020204" pitchFamily="34" charset="0"/>
              <a:buChar char="•"/>
            </a:pPr>
            <a:r>
              <a:rPr lang="en-US" sz="2000" dirty="0">
                <a:solidFill>
                  <a:srgbClr val="000000"/>
                </a:solidFill>
              </a:rPr>
              <a:t>Provide actionable recommendations </a:t>
            </a:r>
          </a:p>
          <a:p>
            <a:pPr>
              <a:buFont typeface="Arial" panose="020B0604020202020204" pitchFamily="34" charset="0"/>
              <a:buChar char="•"/>
            </a:pPr>
            <a:endParaRPr lang="en-US" sz="2000" dirty="0">
              <a:solidFill>
                <a:srgbClr val="000000"/>
              </a:solidFill>
              <a:effectLst/>
            </a:endParaRPr>
          </a:p>
          <a:p>
            <a:pPr>
              <a:buFont typeface="Arial" panose="020B0604020202020204" pitchFamily="34" charset="0"/>
              <a:buChar char="•"/>
            </a:pPr>
            <a:endParaRPr lang="en-US" sz="2000" dirty="0">
              <a:solidFill>
                <a:srgbClr val="000000"/>
              </a:solidFill>
            </a:endParaRPr>
          </a:p>
          <a:p>
            <a:pPr>
              <a:buFont typeface="Arial" panose="020B0604020202020204" pitchFamily="34" charset="0"/>
              <a:buChar char="•"/>
            </a:pPr>
            <a:endParaRPr lang="en-US" sz="2000" dirty="0"/>
          </a:p>
        </p:txBody>
      </p:sp>
    </p:spTree>
    <p:extLst>
      <p:ext uri="{BB962C8B-B14F-4D97-AF65-F5344CB8AC3E}">
        <p14:creationId xmlns:p14="http://schemas.microsoft.com/office/powerpoint/2010/main" val="331803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K</a:t>
            </a:r>
            <a:r>
              <a:rPr lang="en-IN" dirty="0"/>
              <a:t>PI’s</a:t>
            </a:r>
            <a:endParaRPr lang="en-US" dirty="0"/>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r>
              <a:rPr lang="en-US" sz="2000" dirty="0"/>
              <a:t>The following KPIs were used to measure performance:</a:t>
            </a:r>
          </a:p>
          <a:p>
            <a:r>
              <a:rPr lang="en-US" sz="2000" dirty="0"/>
              <a:t>Total Orders → 220</a:t>
            </a:r>
          </a:p>
          <a:p>
            <a:r>
              <a:rPr lang="en-US" sz="2000" dirty="0"/>
              <a:t>Total Revenue → 127K</a:t>
            </a:r>
          </a:p>
          <a:p>
            <a:r>
              <a:rPr lang="en-US" sz="2000" dirty="0"/>
              <a:t>Cancellation Rate → 28.64%</a:t>
            </a:r>
          </a:p>
          <a:p>
            <a:r>
              <a:rPr lang="en-US" sz="2000" dirty="0"/>
              <a:t>Revenue Loss → 36K</a:t>
            </a:r>
          </a:p>
        </p:txBody>
      </p:sp>
    </p:spTree>
    <p:extLst>
      <p:ext uri="{BB962C8B-B14F-4D97-AF65-F5344CB8AC3E}">
        <p14:creationId xmlns:p14="http://schemas.microsoft.com/office/powerpoint/2010/main" val="308377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3" name="TextBox 2">
            <a:extLst>
              <a:ext uri="{FF2B5EF4-FFF2-40B4-BE49-F238E27FC236}">
                <a16:creationId xmlns:a16="http://schemas.microsoft.com/office/drawing/2014/main" id="{6CCF198C-22BC-4327-F4B7-0A0C14D1E668}"/>
              </a:ext>
            </a:extLst>
          </p:cNvPr>
          <p:cNvSpPr txBox="1"/>
          <p:nvPr/>
        </p:nvSpPr>
        <p:spPr>
          <a:xfrm>
            <a:off x="6766561" y="2214880"/>
            <a:ext cx="4409440" cy="3261539"/>
          </a:xfrm>
          <a:prstGeom prst="rect">
            <a:avLst/>
          </a:prstGeom>
          <a:noFill/>
        </p:spPr>
        <p:txBody>
          <a:bodyPr wrap="square">
            <a:spAutoFit/>
          </a:bodyPr>
          <a:lstStyle/>
          <a:p>
            <a:pPr>
              <a:buFont typeface="Arial" panose="020B0604020202020204" pitchFamily="34" charset="0"/>
              <a:buChar char="•"/>
            </a:pPr>
            <a:r>
              <a:rPr lang="en-US" sz="2000" dirty="0"/>
              <a:t>Shows how many highly delayed orders are associated with each restaurant.</a:t>
            </a:r>
          </a:p>
          <a:p>
            <a:pPr>
              <a:buFont typeface="Arial" panose="020B0604020202020204" pitchFamily="34" charset="0"/>
              <a:buChar char="•"/>
            </a:pPr>
            <a:endParaRPr lang="en-US" sz="2000" dirty="0"/>
          </a:p>
          <a:p>
            <a:pPr>
              <a:buFont typeface="Arial" panose="020B0604020202020204" pitchFamily="34" charset="0"/>
              <a:buChar char="•"/>
            </a:pPr>
            <a:r>
              <a:rPr lang="en-US" sz="2000" dirty="0"/>
              <a:t>Some restaurants have significantly higher delays than others.</a:t>
            </a:r>
          </a:p>
          <a:p>
            <a:pPr>
              <a:buFont typeface="Arial" panose="020B0604020202020204" pitchFamily="34" charset="0"/>
              <a:buChar char="•"/>
            </a:pPr>
            <a:endParaRPr lang="en-US" sz="2000" dirty="0"/>
          </a:p>
          <a:p>
            <a:pPr>
              <a:buFont typeface="Arial" panose="020B0604020202020204" pitchFamily="34" charset="0"/>
              <a:buChar char="•"/>
            </a:pPr>
            <a:r>
              <a:rPr lang="en-US" sz="2000" dirty="0"/>
              <a:t>Helps identify underperforming restaurants and operational inefficiencies.</a:t>
            </a:r>
          </a:p>
        </p:txBody>
      </p:sp>
      <p:pic>
        <p:nvPicPr>
          <p:cNvPr id="7" name="Picture 6">
            <a:extLst>
              <a:ext uri="{FF2B5EF4-FFF2-40B4-BE49-F238E27FC236}">
                <a16:creationId xmlns:a16="http://schemas.microsoft.com/office/drawing/2014/main" id="{A4629B26-B0EC-C485-D4AF-E21AFDF3555D}"/>
              </a:ext>
            </a:extLst>
          </p:cNvPr>
          <p:cNvPicPr>
            <a:picLocks noChangeAspect="1"/>
          </p:cNvPicPr>
          <p:nvPr/>
        </p:nvPicPr>
        <p:blipFill>
          <a:blip r:embed="rId2"/>
          <a:stretch>
            <a:fillRect/>
          </a:stretch>
        </p:blipFill>
        <p:spPr>
          <a:xfrm>
            <a:off x="811349" y="1730493"/>
            <a:ext cx="5124064" cy="4096512"/>
          </a:xfrm>
          <a:prstGeom prst="rect">
            <a:avLst/>
          </a:prstGeom>
        </p:spPr>
      </p:pic>
    </p:spTree>
    <p:extLst>
      <p:ext uri="{BB962C8B-B14F-4D97-AF65-F5344CB8AC3E}">
        <p14:creationId xmlns:p14="http://schemas.microsoft.com/office/powerpoint/2010/main" val="251469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3" name="TextBox 2">
            <a:extLst>
              <a:ext uri="{FF2B5EF4-FFF2-40B4-BE49-F238E27FC236}">
                <a16:creationId xmlns:a16="http://schemas.microsoft.com/office/drawing/2014/main" id="{36D94A4A-6DED-0255-725F-93C07B65A398}"/>
              </a:ext>
            </a:extLst>
          </p:cNvPr>
          <p:cNvSpPr txBox="1"/>
          <p:nvPr/>
        </p:nvSpPr>
        <p:spPr>
          <a:xfrm>
            <a:off x="6502401" y="2174241"/>
            <a:ext cx="4459766" cy="3265000"/>
          </a:xfrm>
          <a:prstGeom prst="rect">
            <a:avLst/>
          </a:prstGeom>
          <a:noFill/>
        </p:spPr>
        <p:txBody>
          <a:bodyPr wrap="square">
            <a:spAutoFit/>
          </a:bodyPr>
          <a:lstStyle/>
          <a:p>
            <a:pPr marL="285750" indent="-285750">
              <a:buFont typeface="Arial" panose="020B0604020202020204" pitchFamily="34" charset="0"/>
              <a:buChar char="•"/>
            </a:pPr>
            <a:r>
              <a:rPr lang="en-US" sz="2000" dirty="0"/>
              <a:t>Shows the total delivery delay accumulated on each day.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Certain days have significantly higher total delays, indicating operational pressure.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Helps identify peak days where delivery performance needs improvement.</a:t>
            </a:r>
          </a:p>
        </p:txBody>
      </p:sp>
      <p:pic>
        <p:nvPicPr>
          <p:cNvPr id="7" name="Picture 6">
            <a:extLst>
              <a:ext uri="{FF2B5EF4-FFF2-40B4-BE49-F238E27FC236}">
                <a16:creationId xmlns:a16="http://schemas.microsoft.com/office/drawing/2014/main" id="{2EC74AAD-0810-CE25-3B62-52971E428FF6}"/>
              </a:ext>
            </a:extLst>
          </p:cNvPr>
          <p:cNvPicPr>
            <a:picLocks noChangeAspect="1"/>
          </p:cNvPicPr>
          <p:nvPr/>
        </p:nvPicPr>
        <p:blipFill>
          <a:blip r:embed="rId2"/>
          <a:stretch>
            <a:fillRect/>
          </a:stretch>
        </p:blipFill>
        <p:spPr>
          <a:xfrm>
            <a:off x="444500" y="1680109"/>
            <a:ext cx="5680581" cy="3664481"/>
          </a:xfrm>
          <a:prstGeom prst="rect">
            <a:avLst/>
          </a:prstGeom>
        </p:spPr>
      </p:pic>
    </p:spTree>
    <p:extLst>
      <p:ext uri="{BB962C8B-B14F-4D97-AF65-F5344CB8AC3E}">
        <p14:creationId xmlns:p14="http://schemas.microsoft.com/office/powerpoint/2010/main" val="356639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2" name="Rectangle 1">
            <a:extLst>
              <a:ext uri="{FF2B5EF4-FFF2-40B4-BE49-F238E27FC236}">
                <a16:creationId xmlns:a16="http://schemas.microsoft.com/office/drawing/2014/main" id="{9139798F-AEF2-6B18-9773-D309480C0406}"/>
              </a:ext>
            </a:extLst>
          </p:cNvPr>
          <p:cNvSpPr>
            <a:spLocks noChangeArrowheads="1"/>
          </p:cNvSpPr>
          <p:nvPr/>
        </p:nvSpPr>
        <p:spPr bwMode="auto">
          <a:xfrm rot="10800000" flipV="1">
            <a:off x="6451600" y="2027456"/>
            <a:ext cx="493776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000" dirty="0"/>
              <a:t>Lower-rated delivery partners show higher average delays and higher cancellation rates.</a:t>
            </a:r>
          </a:p>
          <a:p>
            <a:pPr marL="285750" lvl="0" indent="-285750" eaLnBrk="0" fontAlgn="base" hangingPunct="0">
              <a:spcBef>
                <a:spcPct val="0"/>
              </a:spcBef>
              <a:spcAft>
                <a:spcPct val="0"/>
              </a:spcAft>
              <a:buFont typeface="Arial" panose="020B0604020202020204" pitchFamily="34" charset="0"/>
              <a:buChar char="•"/>
            </a:pPr>
            <a:endParaRPr lang="en-US" altLang="en-US" sz="2000" dirty="0"/>
          </a:p>
          <a:p>
            <a:pPr marL="285750" lvl="0" indent="-285750" eaLnBrk="0" fontAlgn="base" hangingPunct="0">
              <a:spcBef>
                <a:spcPct val="0"/>
              </a:spcBef>
              <a:spcAft>
                <a:spcPct val="0"/>
              </a:spcAft>
              <a:buFont typeface="Arial" panose="020B0604020202020204" pitchFamily="34" charset="0"/>
              <a:buChar char="•"/>
            </a:pPr>
            <a:r>
              <a:rPr lang="en-US" altLang="en-US" sz="2000" dirty="0"/>
              <a:t>Higher-rated partners tend to deliver faster with fewer cancellations.</a:t>
            </a:r>
          </a:p>
          <a:p>
            <a:pPr marL="285750" lvl="0" indent="-285750" eaLnBrk="0" fontAlgn="base" hangingPunct="0">
              <a:spcBef>
                <a:spcPct val="0"/>
              </a:spcBef>
              <a:spcAft>
                <a:spcPct val="0"/>
              </a:spcAft>
              <a:buFont typeface="Arial" panose="020B0604020202020204" pitchFamily="34" charset="0"/>
              <a:buChar char="•"/>
            </a:pPr>
            <a:endParaRPr lang="en-US" altLang="en-US" sz="2000" dirty="0"/>
          </a:p>
          <a:p>
            <a:pPr marL="285750" lvl="0" indent="-285750" eaLnBrk="0" fontAlgn="base" hangingPunct="0">
              <a:spcBef>
                <a:spcPct val="0"/>
              </a:spcBef>
              <a:spcAft>
                <a:spcPct val="0"/>
              </a:spcAft>
              <a:buFont typeface="Arial" panose="020B0604020202020204" pitchFamily="34" charset="0"/>
              <a:buChar char="•"/>
            </a:pPr>
            <a:r>
              <a:rPr lang="en-US" altLang="en-US" sz="2000" dirty="0"/>
              <a:t>Indicates a strong link between partner performance, delivery efficiency and customer experience.</a:t>
            </a:r>
            <a:endParaRPr kumimoji="0" lang="en-US" altLang="en-US" sz="2000" b="0" i="0" u="none" strike="noStrike" cap="none" normalizeH="0" baseline="0" dirty="0">
              <a:ln>
                <a:noFill/>
              </a:ln>
              <a:solidFill>
                <a:schemeClr val="tx1"/>
              </a:solidFill>
              <a:effectLst/>
            </a:endParaRPr>
          </a:p>
        </p:txBody>
      </p:sp>
      <p:pic>
        <p:nvPicPr>
          <p:cNvPr id="7" name="Picture 6">
            <a:extLst>
              <a:ext uri="{FF2B5EF4-FFF2-40B4-BE49-F238E27FC236}">
                <a16:creationId xmlns:a16="http://schemas.microsoft.com/office/drawing/2014/main" id="{4C62BE74-C583-1438-1170-CA55E9DE20CD}"/>
              </a:ext>
            </a:extLst>
          </p:cNvPr>
          <p:cNvPicPr>
            <a:picLocks noChangeAspect="1"/>
          </p:cNvPicPr>
          <p:nvPr/>
        </p:nvPicPr>
        <p:blipFill>
          <a:blip r:embed="rId2"/>
          <a:stretch>
            <a:fillRect/>
          </a:stretch>
        </p:blipFill>
        <p:spPr>
          <a:xfrm>
            <a:off x="599951" y="1821864"/>
            <a:ext cx="5638289" cy="3375691"/>
          </a:xfrm>
          <a:prstGeom prst="rect">
            <a:avLst/>
          </a:prstGeom>
        </p:spPr>
      </p:pic>
    </p:spTree>
    <p:extLst>
      <p:ext uri="{BB962C8B-B14F-4D97-AF65-F5344CB8AC3E}">
        <p14:creationId xmlns:p14="http://schemas.microsoft.com/office/powerpoint/2010/main" val="40952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normAutofit/>
          </a:bodyPr>
          <a:lstStyle/>
          <a:p>
            <a:r>
              <a:rPr lang="en-IN" dirty="0"/>
              <a:t> Business Questions / Challenges</a:t>
            </a:r>
            <a:endParaRPr lang="en-US" dirty="0"/>
          </a:p>
        </p:txBody>
      </p:sp>
      <p:sp>
        <p:nvSpPr>
          <p:cNvPr id="2" name="Rectangle 1">
            <a:extLst>
              <a:ext uri="{FF2B5EF4-FFF2-40B4-BE49-F238E27FC236}">
                <a16:creationId xmlns:a16="http://schemas.microsoft.com/office/drawing/2014/main" id="{63CC13A9-7088-7DCA-4C52-2B53F6E5A5FA}"/>
              </a:ext>
            </a:extLst>
          </p:cNvPr>
          <p:cNvSpPr>
            <a:spLocks noChangeArrowheads="1"/>
          </p:cNvSpPr>
          <p:nvPr/>
        </p:nvSpPr>
        <p:spPr bwMode="auto">
          <a:xfrm rot="10800000" flipV="1">
            <a:off x="6096000" y="1857357"/>
            <a:ext cx="471731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000" i="1" dirty="0"/>
              <a:t>Orders with higher delivery delays have the highest cancellation rate.</a:t>
            </a:r>
          </a:p>
          <a:p>
            <a:pPr marL="285750" lvl="0" indent="-285750" eaLnBrk="0" fontAlgn="base" hangingPunct="0">
              <a:spcBef>
                <a:spcPct val="0"/>
              </a:spcBef>
              <a:spcAft>
                <a:spcPct val="0"/>
              </a:spcAft>
              <a:buFont typeface="Arial" panose="020B0604020202020204" pitchFamily="34" charset="0"/>
              <a:buChar char="•"/>
            </a:pPr>
            <a:endParaRPr lang="en-US" altLang="en-US" sz="2000" i="1" dirty="0"/>
          </a:p>
          <a:p>
            <a:pPr marL="285750" lvl="0" indent="-285750" eaLnBrk="0" fontAlgn="base" hangingPunct="0">
              <a:spcBef>
                <a:spcPct val="0"/>
              </a:spcBef>
              <a:spcAft>
                <a:spcPct val="0"/>
              </a:spcAft>
              <a:buFont typeface="Arial" panose="020B0604020202020204" pitchFamily="34" charset="0"/>
              <a:buChar char="•"/>
            </a:pPr>
            <a:r>
              <a:rPr lang="en-US" altLang="en-US" sz="2000" i="1" dirty="0"/>
              <a:t>Moderate delays also contribute significantly to cancellations.</a:t>
            </a:r>
          </a:p>
          <a:p>
            <a:pPr marL="285750" lvl="0" indent="-285750" eaLnBrk="0" fontAlgn="base" hangingPunct="0">
              <a:spcBef>
                <a:spcPct val="0"/>
              </a:spcBef>
              <a:spcAft>
                <a:spcPct val="0"/>
              </a:spcAft>
              <a:buFont typeface="Arial" panose="020B0604020202020204" pitchFamily="34" charset="0"/>
              <a:buChar char="•"/>
            </a:pPr>
            <a:endParaRPr lang="en-US" altLang="en-US" sz="2000" i="1" dirty="0"/>
          </a:p>
          <a:p>
            <a:pPr marL="285750" lvl="0" indent="-285750" eaLnBrk="0" fontAlgn="base" hangingPunct="0">
              <a:spcBef>
                <a:spcPct val="0"/>
              </a:spcBef>
              <a:spcAft>
                <a:spcPct val="0"/>
              </a:spcAft>
              <a:buFont typeface="Arial" panose="020B0604020202020204" pitchFamily="34" charset="0"/>
              <a:buChar char="•"/>
            </a:pPr>
            <a:r>
              <a:rPr lang="en-US" altLang="en-US" sz="2000" i="1" dirty="0"/>
              <a:t>Orders with low delays have the lowest cancellation rate.</a:t>
            </a:r>
            <a:endParaRPr kumimoji="0" lang="en-US" altLang="en-US" sz="20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00CD99A6-B1EB-45EB-58EC-739A1DAA5F8D}"/>
              </a:ext>
            </a:extLst>
          </p:cNvPr>
          <p:cNvPicPr>
            <a:picLocks noChangeAspect="1"/>
          </p:cNvPicPr>
          <p:nvPr/>
        </p:nvPicPr>
        <p:blipFill>
          <a:blip r:embed="rId2"/>
          <a:stretch>
            <a:fillRect/>
          </a:stretch>
        </p:blipFill>
        <p:spPr>
          <a:xfrm>
            <a:off x="306372" y="1780658"/>
            <a:ext cx="5789628" cy="3296683"/>
          </a:xfrm>
          <a:prstGeom prst="rect">
            <a:avLst/>
          </a:prstGeom>
        </p:spPr>
      </p:pic>
    </p:spTree>
    <p:extLst>
      <p:ext uri="{BB962C8B-B14F-4D97-AF65-F5344CB8AC3E}">
        <p14:creationId xmlns:p14="http://schemas.microsoft.com/office/powerpoint/2010/main" val="345185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IN" dirty="0"/>
              <a:t> Dashboard</a:t>
            </a:r>
            <a:endParaRPr lang="en-US" dirty="0"/>
          </a:p>
        </p:txBody>
      </p:sp>
      <p:pic>
        <p:nvPicPr>
          <p:cNvPr id="3" name="Picture 2">
            <a:extLst>
              <a:ext uri="{FF2B5EF4-FFF2-40B4-BE49-F238E27FC236}">
                <a16:creationId xmlns:a16="http://schemas.microsoft.com/office/drawing/2014/main" id="{2B47CEFE-05C4-5FDC-1EAB-27DBF3770C0F}"/>
              </a:ext>
            </a:extLst>
          </p:cNvPr>
          <p:cNvPicPr>
            <a:picLocks noChangeAspect="1"/>
          </p:cNvPicPr>
          <p:nvPr/>
        </p:nvPicPr>
        <p:blipFill>
          <a:blip r:embed="rId2"/>
          <a:stretch>
            <a:fillRect/>
          </a:stretch>
        </p:blipFill>
        <p:spPr>
          <a:xfrm>
            <a:off x="444500" y="1219679"/>
            <a:ext cx="11210544" cy="5567201"/>
          </a:xfrm>
          <a:prstGeom prst="rect">
            <a:avLst/>
          </a:prstGeom>
        </p:spPr>
      </p:pic>
    </p:spTree>
    <p:extLst>
      <p:ext uri="{BB962C8B-B14F-4D97-AF65-F5344CB8AC3E}">
        <p14:creationId xmlns:p14="http://schemas.microsoft.com/office/powerpoint/2010/main" val="256205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584A-A4A2-E6CB-94F7-75CBCDFA013C}"/>
              </a:ext>
            </a:extLst>
          </p:cNvPr>
          <p:cNvSpPr>
            <a:spLocks noGrp="1"/>
          </p:cNvSpPr>
          <p:nvPr>
            <p:ph type="title"/>
          </p:nvPr>
        </p:nvSpPr>
        <p:spPr/>
        <p:txBody>
          <a:bodyPr/>
          <a:lstStyle/>
          <a:p>
            <a:r>
              <a:rPr lang="en-IN" dirty="0"/>
              <a:t>Recommendations</a:t>
            </a:r>
          </a:p>
        </p:txBody>
      </p:sp>
      <p:sp>
        <p:nvSpPr>
          <p:cNvPr id="3" name="Content Placeholder 2">
            <a:extLst>
              <a:ext uri="{FF2B5EF4-FFF2-40B4-BE49-F238E27FC236}">
                <a16:creationId xmlns:a16="http://schemas.microsoft.com/office/drawing/2014/main" id="{6C0AB4E3-905B-8186-4C7D-D11B70BE6860}"/>
              </a:ext>
            </a:extLst>
          </p:cNvPr>
          <p:cNvSpPr>
            <a:spLocks noGrp="1"/>
          </p:cNvSpPr>
          <p:nvPr>
            <p:ph sz="quarter" idx="13"/>
          </p:nvPr>
        </p:nvSpPr>
        <p:spPr/>
        <p:txBody>
          <a:bodyPr>
            <a:normAutofit/>
          </a:bodyPr>
          <a:lstStyle/>
          <a:p>
            <a:pPr marL="342900" indent="-342900">
              <a:buFont typeface="Arial" panose="020B0604020202020204" pitchFamily="34" charset="0"/>
              <a:buChar char="•"/>
            </a:pPr>
            <a:r>
              <a:rPr lang="en-US" sz="2000" dirty="0"/>
              <a:t>Increase delivery partners during peak hours</a:t>
            </a:r>
          </a:p>
          <a:p>
            <a:pPr marL="342900" indent="-342900">
              <a:buFont typeface="Arial" panose="020B0604020202020204" pitchFamily="34" charset="0"/>
              <a:buChar char="•"/>
            </a:pPr>
            <a:r>
              <a:rPr lang="en-US" sz="2000" dirty="0"/>
              <a:t>Improve delivery time prediction</a:t>
            </a:r>
          </a:p>
          <a:p>
            <a:pPr marL="342900" indent="-342900">
              <a:buFont typeface="Arial" panose="020B0604020202020204" pitchFamily="34" charset="0"/>
              <a:buChar char="•"/>
            </a:pPr>
            <a:r>
              <a:rPr lang="en-US" sz="2000" dirty="0"/>
              <a:t>Optimize underperforming restaurants</a:t>
            </a:r>
          </a:p>
          <a:p>
            <a:pPr marL="342900" indent="-342900">
              <a:buFont typeface="Arial" panose="020B0604020202020204" pitchFamily="34" charset="0"/>
              <a:buChar char="•"/>
            </a:pPr>
            <a:r>
              <a:rPr lang="en-US" sz="2000" dirty="0"/>
              <a:t>Monitor high-delay orders in real time</a:t>
            </a:r>
          </a:p>
          <a:p>
            <a:pPr marL="342900" indent="-342900">
              <a:buFont typeface="Arial" panose="020B0604020202020204" pitchFamily="34" charset="0"/>
              <a:buChar char="•"/>
            </a:pPr>
            <a:r>
              <a:rPr lang="en-US" sz="2000" dirty="0"/>
              <a:t>Provide compensation for delayed deliveries</a:t>
            </a:r>
            <a:endParaRPr lang="en-IN" sz="2000" dirty="0"/>
          </a:p>
        </p:txBody>
      </p:sp>
    </p:spTree>
    <p:extLst>
      <p:ext uri="{BB962C8B-B14F-4D97-AF65-F5344CB8AC3E}">
        <p14:creationId xmlns:p14="http://schemas.microsoft.com/office/powerpoint/2010/main" val="2020607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A2C7E9-DC20-A7CD-7737-2DBF7B80CE66}"/>
              </a:ext>
            </a:extLst>
          </p:cNvPr>
          <p:cNvSpPr>
            <a:spLocks noGrp="1"/>
          </p:cNvSpPr>
          <p:nvPr>
            <p:ph type="title"/>
          </p:nvPr>
        </p:nvSpPr>
        <p:spPr/>
        <p:txBody>
          <a:bodyPr/>
          <a:lstStyle/>
          <a:p>
            <a:r>
              <a:rPr lang="en-US" dirty="0"/>
              <a:t>Conclusion</a:t>
            </a:r>
          </a:p>
        </p:txBody>
      </p:sp>
      <p:sp>
        <p:nvSpPr>
          <p:cNvPr id="5" name="Content Placeholder 4">
            <a:extLst>
              <a:ext uri="{FF2B5EF4-FFF2-40B4-BE49-F238E27FC236}">
                <a16:creationId xmlns:a16="http://schemas.microsoft.com/office/drawing/2014/main" id="{E4BD9A04-6070-3A4A-2AC0-0A472F47D15E}"/>
              </a:ext>
            </a:extLst>
          </p:cNvPr>
          <p:cNvSpPr>
            <a:spLocks noGrp="1"/>
          </p:cNvSpPr>
          <p:nvPr>
            <p:ph sz="quarter" idx="13"/>
          </p:nvPr>
        </p:nvSpPr>
        <p:spPr>
          <a:xfrm>
            <a:off x="444500" y="1463040"/>
            <a:ext cx="10854871" cy="4489891"/>
          </a:xfrm>
        </p:spPr>
        <p:txBody>
          <a:bodyPr>
            <a:normAutofit/>
          </a:bodyPr>
          <a:lstStyle/>
          <a:p>
            <a:pPr>
              <a:lnSpc>
                <a:spcPct val="150000"/>
              </a:lnSpc>
            </a:pPr>
            <a:r>
              <a:rPr lang="en-US" sz="2000" dirty="0"/>
              <a:t>Delivery delays play a critical role in shaping customer experience and business outcomes. As delays increase, the likelihood of order cancellations also rises, while customer ratings tend to decline. This clearly indicates that delay management is directly linked to customer satisfaction and retention. By minimizing delivery delays, the company can not only enhance the overall customer experience but also reduce cancellations and prevent potential revenue loss.</a:t>
            </a:r>
          </a:p>
        </p:txBody>
      </p:sp>
    </p:spTree>
    <p:extLst>
      <p:ext uri="{BB962C8B-B14F-4D97-AF65-F5344CB8AC3E}">
        <p14:creationId xmlns:p14="http://schemas.microsoft.com/office/powerpoint/2010/main" val="128966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FB0496F-9AEF-B173-616A-8E0394977E5C}"/>
              </a:ext>
            </a:extLst>
          </p:cNvPr>
          <p:cNvSpPr txBox="1"/>
          <p:nvPr/>
        </p:nvSpPr>
        <p:spPr>
          <a:xfrm>
            <a:off x="488302" y="3171149"/>
            <a:ext cx="1121539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000000"/>
                </a:solidFill>
                <a:effectLst/>
                <a:uLnTx/>
                <a:uFillTx/>
                <a:latin typeface="Segoe UI"/>
                <a:ea typeface="+mn-ea"/>
                <a:cs typeface="+mn-cs"/>
              </a:rPr>
              <a:t>THANK YOU!</a:t>
            </a:r>
            <a:endParaRPr kumimoji="0" lang="en-IN" sz="36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3346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889724_Win32" id="{A47D2243-58B7-4EA1-AC61-F4DDB07AC155}" vid="{5B84BEAD-BCA6-42F5-9270-6ECA397995EE}"/>
    </a:ext>
  </a:extLst>
</a:theme>
</file>

<file path=docProps/app.xml><?xml version="1.0" encoding="utf-8"?>
<Properties xmlns="http://schemas.openxmlformats.org/officeDocument/2006/extended-properties" xmlns:vt="http://schemas.openxmlformats.org/officeDocument/2006/docPropsVTypes">
  <TotalTime>240</TotalTime>
  <Words>482</Words>
  <Application>Microsoft Office PowerPoint</Application>
  <PresentationFormat>Widescreen</PresentationFormat>
  <Paragraphs>60</Paragraphs>
  <Slides>13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Aptos Display</vt:lpstr>
      <vt:lpstr>Arial</vt:lpstr>
      <vt:lpstr>Plus Jakarta Sans</vt:lpstr>
      <vt:lpstr>Segoe UI</vt:lpstr>
      <vt:lpstr>Office Theme</vt:lpstr>
      <vt:lpstr>WelcomeDoc</vt:lpstr>
      <vt:lpstr>Impact of Food Delivery Delays on Order Cancellations</vt:lpstr>
      <vt:lpstr>Introduction</vt:lpstr>
      <vt:lpstr>Business Background</vt:lpstr>
      <vt:lpstr>Business Objective</vt:lpstr>
      <vt:lpstr>KPI’s</vt:lpstr>
      <vt:lpstr> Business Questions / Challenges</vt:lpstr>
      <vt:lpstr> Business Questions / Challenges</vt:lpstr>
      <vt:lpstr> Business Questions / Challenges</vt:lpstr>
      <vt:lpstr> Business Questions / Challenges</vt:lpstr>
      <vt:lpstr> Dashboard</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Jain</dc:creator>
  <cp:lastModifiedBy>Rohit Jain</cp:lastModifiedBy>
  <cp:revision>9</cp:revision>
  <dcterms:created xsi:type="dcterms:W3CDTF">2026-03-10T07:30:37Z</dcterms:created>
  <dcterms:modified xsi:type="dcterms:W3CDTF">2026-05-01T05:41:13Z</dcterms:modified>
</cp:coreProperties>
</file>