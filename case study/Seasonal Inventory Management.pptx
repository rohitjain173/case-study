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sldIdLst>
    <p:sldId id="385" r:id="rId3"/>
    <p:sldId id="410" r:id="rId4"/>
    <p:sldId id="386" r:id="rId5"/>
    <p:sldId id="394" r:id="rId6"/>
    <p:sldId id="396" r:id="rId7"/>
    <p:sldId id="402" r:id="rId8"/>
    <p:sldId id="404" r:id="rId9"/>
    <p:sldId id="406" r:id="rId10"/>
    <p:sldId id="409" r:id="rId11"/>
    <p:sldId id="398" r:id="rId12"/>
    <p:sldId id="412" r:id="rId13"/>
    <p:sldId id="411" r:id="rId14"/>
    <p:sldId id="40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2022" autoAdjust="0"/>
  </p:normalViewPr>
  <p:slideViewPr>
    <p:cSldViewPr snapToGrid="0">
      <p:cViewPr varScale="1">
        <p:scale>
          <a:sx n="72" d="100"/>
          <a:sy n="72" d="100"/>
        </p:scale>
        <p:origin x="109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79C71-2B0D-DABB-E1C4-F6E2B74412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9D8DAAA-6335-3FCE-72C7-DE9C68A5D8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2279663-197B-13FF-4B21-9A5C760FD985}"/>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5" name="Footer Placeholder 4">
            <a:extLst>
              <a:ext uri="{FF2B5EF4-FFF2-40B4-BE49-F238E27FC236}">
                <a16:creationId xmlns:a16="http://schemas.microsoft.com/office/drawing/2014/main" id="{9041BD36-26CC-6982-AAD6-8B83717B48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89EEFE-6221-361F-B5C4-99C611E6E23C}"/>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173202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E94B2-09D7-732B-63C3-4F3E2470C8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0BEEE3-D387-91CE-4226-3F4F6CA25E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B29C2D-7BE2-9281-0AA9-599359831AC5}"/>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5" name="Footer Placeholder 4">
            <a:extLst>
              <a:ext uri="{FF2B5EF4-FFF2-40B4-BE49-F238E27FC236}">
                <a16:creationId xmlns:a16="http://schemas.microsoft.com/office/drawing/2014/main" id="{214D5ED1-2D7F-91E2-E62F-5A702C39C6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D2F6FE-B0D1-603C-3188-848C2CE74AB9}"/>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1003316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15D5B-0AB9-6D37-694D-D70A693A22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A6AC85A-EB98-059A-B85A-D8807CF0397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3B9270-B81A-4E38-7D67-790B63676FC3}"/>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5" name="Footer Placeholder 4">
            <a:extLst>
              <a:ext uri="{FF2B5EF4-FFF2-40B4-BE49-F238E27FC236}">
                <a16:creationId xmlns:a16="http://schemas.microsoft.com/office/drawing/2014/main" id="{15B749FD-93B6-07D9-CC72-3B6A5384EF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DA560D-6F55-AF8C-F52B-445B8CC0909C}"/>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2943001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C0795-EEAE-73CF-35A1-4186054B89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6294B4-3518-F128-3F7C-23A5652A7D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1EC1335-7544-BB9B-846C-8090983D1D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E979A23-0F01-3CF6-2FFE-D35137BBB8B3}"/>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6" name="Footer Placeholder 5">
            <a:extLst>
              <a:ext uri="{FF2B5EF4-FFF2-40B4-BE49-F238E27FC236}">
                <a16:creationId xmlns:a16="http://schemas.microsoft.com/office/drawing/2014/main" id="{15131BD4-6A44-63AD-AAD0-0602FBCDBB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97239A-1724-1F87-8E39-5B483188A502}"/>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4236545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0D9A6-ABFF-FB95-1738-2A9BF7E6ADB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824328-DF70-89A7-F4E6-10ADC4B7BB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D99227-9F90-497F-25ED-5262AC8289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BD527BB-FCF2-EA32-A6AD-FDFD10D1EA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0D6F29-DE0E-20A4-14C8-1067244612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E307759-E242-2779-D246-E147FD5E70C2}"/>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8" name="Footer Placeholder 7">
            <a:extLst>
              <a:ext uri="{FF2B5EF4-FFF2-40B4-BE49-F238E27FC236}">
                <a16:creationId xmlns:a16="http://schemas.microsoft.com/office/drawing/2014/main" id="{D0F4E827-5FC0-0C3B-E314-05E913D5264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4E2975C-8463-095D-B718-E97AC29362C2}"/>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3490912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F8193-8FAD-6722-E29A-96F83F5254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40A97C3-5871-2950-4C07-F7E44C0E9B1A}"/>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4" name="Footer Placeholder 3">
            <a:extLst>
              <a:ext uri="{FF2B5EF4-FFF2-40B4-BE49-F238E27FC236}">
                <a16:creationId xmlns:a16="http://schemas.microsoft.com/office/drawing/2014/main" id="{BC12384A-35FF-294B-54FB-1F6C82E5C3F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40A8E05-B53C-237A-A158-290EDFFD63A6}"/>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3870480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23531C-DEA4-CADA-989D-A71F8F6CD6B8}"/>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3" name="Footer Placeholder 2">
            <a:extLst>
              <a:ext uri="{FF2B5EF4-FFF2-40B4-BE49-F238E27FC236}">
                <a16:creationId xmlns:a16="http://schemas.microsoft.com/office/drawing/2014/main" id="{F7869337-E4D2-0EF5-585B-B3CE40065C3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1D9421E-6E18-2D4B-731B-2EDBA610C1E5}"/>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1283919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852AA-6519-0656-073E-87FCD24874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CB06CE3-ED91-7C9A-1253-0453490199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65DCCE-8FCC-0E1F-AC0F-8F02E2E546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2ABC47-A839-578D-6B3A-61BF22C6078F}"/>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6" name="Footer Placeholder 5">
            <a:extLst>
              <a:ext uri="{FF2B5EF4-FFF2-40B4-BE49-F238E27FC236}">
                <a16:creationId xmlns:a16="http://schemas.microsoft.com/office/drawing/2014/main" id="{08B025D2-7E25-6D30-2BFB-BDB6D5C7A72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AD7D67-A07B-79D5-F308-B37EE72E79BA}"/>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1786565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DA48A-C817-B190-3BDC-AF6557FE8B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690C8C-2E44-C10C-8756-4DB25362B9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BE12DC8-8FC2-02B8-8F29-B116BB21CE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BFFD3D-1D16-953E-ADDD-DE83175DFF48}"/>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6" name="Footer Placeholder 5">
            <a:extLst>
              <a:ext uri="{FF2B5EF4-FFF2-40B4-BE49-F238E27FC236}">
                <a16:creationId xmlns:a16="http://schemas.microsoft.com/office/drawing/2014/main" id="{878281C0-BD97-DB8D-06D5-B48F1A49A9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326A87-3672-6312-823D-B9273D0C9B85}"/>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2791137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236E8-A97B-B4ED-D1F3-F9DFFFFEAB7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A9E22F-1FC1-FBDB-FAE3-ACA4D49C53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7C2EDB-3F8C-2B37-76B6-6C32C14C8904}"/>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5" name="Footer Placeholder 4">
            <a:extLst>
              <a:ext uri="{FF2B5EF4-FFF2-40B4-BE49-F238E27FC236}">
                <a16:creationId xmlns:a16="http://schemas.microsoft.com/office/drawing/2014/main" id="{C9DB1550-21BF-AFC9-E221-519EF1C57F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637BA9-8E36-EE50-FD6B-E5C9DDDC7982}"/>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3846892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09A66E-4982-C420-D99A-2183522AD37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8D1791-07BD-C2FD-8BD7-F958BD897A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1618F8-FB8C-8FB2-2C76-664D1934DC9F}"/>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5" name="Footer Placeholder 4">
            <a:extLst>
              <a:ext uri="{FF2B5EF4-FFF2-40B4-BE49-F238E27FC236}">
                <a16:creationId xmlns:a16="http://schemas.microsoft.com/office/drawing/2014/main" id="{2C1F704D-E81B-E923-E7C6-A573C855C8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3DE9DB-78F4-D3CE-562F-B86F7CCFF9D2}"/>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1235851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48056" y="2551176"/>
            <a:ext cx="9922447" cy="914400"/>
          </a:xfrm>
        </p:spPr>
        <p:txBody>
          <a:bodyPr/>
          <a:lstStyle>
            <a:lvl1pPr>
              <a:defRPr sz="5400" b="0">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B107D0E1-EAED-8E08-24BA-8F930364BA96}"/>
              </a:ext>
            </a:extLst>
          </p:cNvPr>
          <p:cNvSpPr>
            <a:spLocks noGrp="1"/>
          </p:cNvSpPr>
          <p:nvPr>
            <p:ph type="body" sz="quarter" idx="10"/>
          </p:nvPr>
        </p:nvSpPr>
        <p:spPr>
          <a:xfrm>
            <a:off x="448056" y="3575304"/>
            <a:ext cx="9921943" cy="862012"/>
          </a:xfrm>
        </p:spPr>
        <p:txBody>
          <a:bodyPr>
            <a:normAutofit/>
          </a:bodyPr>
          <a:lstStyle>
            <a:lvl1pPr>
              <a:defRPr sz="2400">
                <a:solidFill>
                  <a:schemeClr val="accent2"/>
                </a:solidFill>
              </a:defRPr>
            </a:lvl1pPr>
          </a:lstStyle>
          <a:p>
            <a:pPr lvl="0"/>
            <a:r>
              <a:rPr lang="en-US"/>
              <a:t>Click to edit Master text styles</a:t>
            </a:r>
          </a:p>
        </p:txBody>
      </p:sp>
      <p:pic>
        <p:nvPicPr>
          <p:cNvPr id="6" name="Picture 5" descr="Graphical user interface&#10;&#10;Description automatically generated">
            <a:extLst>
              <a:ext uri="{FF2B5EF4-FFF2-40B4-BE49-F238E27FC236}">
                <a16:creationId xmlns:a16="http://schemas.microsoft.com/office/drawing/2014/main" id="{976CD4A8-8154-0AA2-A2AB-9AD82CD7406C}"/>
              </a:ext>
            </a:extLst>
          </p:cNvPr>
          <p:cNvPicPr>
            <a:picLocks noChangeAspect="1"/>
          </p:cNvPicPr>
          <p:nvPr userDrawn="1"/>
        </p:nvPicPr>
        <p:blipFill>
          <a:blip r:embed="rId2"/>
          <a:stretch>
            <a:fillRect/>
          </a:stretch>
        </p:blipFill>
        <p:spPr>
          <a:xfrm>
            <a:off x="249483" y="128907"/>
            <a:ext cx="2369315" cy="867807"/>
          </a:xfrm>
          <a:prstGeom prst="rect">
            <a:avLst/>
          </a:prstGeom>
        </p:spPr>
      </p:pic>
    </p:spTree>
    <p:extLst>
      <p:ext uri="{BB962C8B-B14F-4D97-AF65-F5344CB8AC3E}">
        <p14:creationId xmlns:p14="http://schemas.microsoft.com/office/powerpoint/2010/main" val="143207798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48056" y="2551176"/>
            <a:ext cx="9922447" cy="914400"/>
          </a:xfrm>
        </p:spPr>
        <p:txBody>
          <a:bodyPr/>
          <a:lstStyle>
            <a:lvl1pPr>
              <a:defRPr sz="5400" b="0">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B107D0E1-EAED-8E08-24BA-8F930364BA96}"/>
              </a:ext>
            </a:extLst>
          </p:cNvPr>
          <p:cNvSpPr>
            <a:spLocks noGrp="1"/>
          </p:cNvSpPr>
          <p:nvPr>
            <p:ph type="body" sz="quarter" idx="10"/>
          </p:nvPr>
        </p:nvSpPr>
        <p:spPr>
          <a:xfrm>
            <a:off x="448056" y="3575304"/>
            <a:ext cx="9921943" cy="862012"/>
          </a:xfrm>
        </p:spPr>
        <p:txBody>
          <a:bodyPr>
            <a:normAutofit/>
          </a:bodyPr>
          <a:lstStyle>
            <a:lvl1pPr>
              <a:defRPr sz="2400">
                <a:solidFill>
                  <a:schemeClr val="accent2"/>
                </a:solidFill>
              </a:defRPr>
            </a:lvl1pPr>
          </a:lstStyle>
          <a:p>
            <a:pPr lvl="0"/>
            <a:r>
              <a:rPr lang="en-US"/>
              <a:t>Click to edit Master text styles</a:t>
            </a:r>
          </a:p>
        </p:txBody>
      </p:sp>
      <p:pic>
        <p:nvPicPr>
          <p:cNvPr id="6" name="Picture 5" descr="Graphical user interface&#10;&#10;Description automatically generated">
            <a:extLst>
              <a:ext uri="{FF2B5EF4-FFF2-40B4-BE49-F238E27FC236}">
                <a16:creationId xmlns:a16="http://schemas.microsoft.com/office/drawing/2014/main" id="{976CD4A8-8154-0AA2-A2AB-9AD82CD7406C}"/>
              </a:ext>
            </a:extLst>
          </p:cNvPr>
          <p:cNvPicPr>
            <a:picLocks noChangeAspect="1"/>
          </p:cNvPicPr>
          <p:nvPr userDrawn="1"/>
        </p:nvPicPr>
        <p:blipFill>
          <a:blip r:embed="rId2"/>
          <a:stretch>
            <a:fillRect/>
          </a:stretch>
        </p:blipFill>
        <p:spPr>
          <a:xfrm>
            <a:off x="249483" y="128907"/>
            <a:ext cx="2369315" cy="867807"/>
          </a:xfrm>
          <a:prstGeom prst="rect">
            <a:avLst/>
          </a:prstGeom>
        </p:spPr>
      </p:pic>
    </p:spTree>
    <p:extLst>
      <p:ext uri="{BB962C8B-B14F-4D97-AF65-F5344CB8AC3E}">
        <p14:creationId xmlns:p14="http://schemas.microsoft.com/office/powerpoint/2010/main" val="270827718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3/22/2026</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463040"/>
            <a:ext cx="11210543"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30441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3/22/2026</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463040"/>
            <a:ext cx="5330952"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6">
            <a:extLst>
              <a:ext uri="{FF2B5EF4-FFF2-40B4-BE49-F238E27FC236}">
                <a16:creationId xmlns:a16="http://schemas.microsoft.com/office/drawing/2014/main" id="{904E943F-C687-D3B3-4E36-65D69E3E2F0C}"/>
              </a:ext>
            </a:extLst>
          </p:cNvPr>
          <p:cNvSpPr>
            <a:spLocks noGrp="1"/>
          </p:cNvSpPr>
          <p:nvPr>
            <p:ph sz="quarter" idx="14"/>
          </p:nvPr>
        </p:nvSpPr>
        <p:spPr>
          <a:xfrm>
            <a:off x="6298690" y="1463040"/>
            <a:ext cx="5330952"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89320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sho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3/22/2026</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463040"/>
            <a:ext cx="5330952"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82135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3/22/2026</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1674452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2.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2F8185-9B03-AEBB-C5B4-12AC7D3A21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914515-6A39-3766-77BD-A760FE0810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CDD25F-D9C4-0BDE-4059-79713EF243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14BAEA-26FF-4E5F-A2D4-1A5C8E994770}" type="datetimeFigureOut">
              <a:rPr lang="en-IN" smtClean="0"/>
              <a:t>22-03-2026</a:t>
            </a:fld>
            <a:endParaRPr lang="en-IN"/>
          </a:p>
        </p:txBody>
      </p:sp>
      <p:sp>
        <p:nvSpPr>
          <p:cNvPr id="5" name="Footer Placeholder 4">
            <a:extLst>
              <a:ext uri="{FF2B5EF4-FFF2-40B4-BE49-F238E27FC236}">
                <a16:creationId xmlns:a16="http://schemas.microsoft.com/office/drawing/2014/main" id="{543E0A9E-5BF1-1B01-9D3C-D04AF26254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1F19753-37AF-A564-097A-6320B6514B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3D7D92-63F6-4137-895D-83836DF0D0AD}" type="slidenum">
              <a:rPr lang="en-IN" smtClean="0"/>
              <a:t>‹#›</a:t>
            </a:fld>
            <a:endParaRPr lang="en-IN"/>
          </a:p>
        </p:txBody>
      </p:sp>
    </p:spTree>
    <p:extLst>
      <p:ext uri="{BB962C8B-B14F-4D97-AF65-F5344CB8AC3E}">
        <p14:creationId xmlns:p14="http://schemas.microsoft.com/office/powerpoint/2010/main" val="11010993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4500" y="430609"/>
            <a:ext cx="11210544" cy="557784"/>
          </a:xfrm>
          <a:prstGeom prst="rect">
            <a:avLst/>
          </a:prstGeom>
        </p:spPr>
        <p:txBody>
          <a:bodyPr vert="horz" lIns="91440" tIns="45720" rIns="91440" bIns="45720" rtlCol="0" anchor="t" anchorCtr="0">
            <a:normAutofit/>
          </a:bodyPr>
          <a:lstStyle/>
          <a:p>
            <a:r>
              <a:rPr lang="en-US"/>
              <a:t>Click to edit Master title style</a:t>
            </a:r>
          </a:p>
        </p:txBody>
      </p:sp>
      <p:sp>
        <p:nvSpPr>
          <p:cNvPr id="3" name="Text Placeholder 2"/>
          <p:cNvSpPr>
            <a:spLocks noGrp="1"/>
          </p:cNvSpPr>
          <p:nvPr>
            <p:ph type="body" idx="1"/>
          </p:nvPr>
        </p:nvSpPr>
        <p:spPr>
          <a:xfrm>
            <a:off x="448056" y="1447800"/>
            <a:ext cx="11210543"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19099" y="6427391"/>
            <a:ext cx="3276600" cy="141686"/>
          </a:xfrm>
          <a:prstGeom prst="rect">
            <a:avLst/>
          </a:prstGeom>
        </p:spPr>
        <p:txBody>
          <a:bodyPr vert="horz" lIns="91440" tIns="45720" rIns="91440" bIns="45720" rtlCol="0" anchor="ctr"/>
          <a:lstStyle>
            <a:lvl1pPr algn="l">
              <a:defRPr sz="800" baseline="0">
                <a:solidFill>
                  <a:schemeClr val="tx1">
                    <a:lumMod val="65000"/>
                    <a:lumOff val="35000"/>
                  </a:schemeClr>
                </a:solidFill>
              </a:defRPr>
            </a:lvl1pPr>
          </a:lstStyle>
          <a:p>
            <a:fld id="{8BEEBAAA-29B5-4AF5-BC5F-7E580C29002D}" type="datetimeFigureOut">
              <a:rPr lang="en-US" smtClean="0"/>
              <a:pPr/>
              <a:t>3/22/2026</a:t>
            </a:fld>
            <a:endParaRPr lang="en-US"/>
          </a:p>
        </p:txBody>
      </p:sp>
      <p:sp>
        <p:nvSpPr>
          <p:cNvPr id="5" name="Footer Placeholder 4"/>
          <p:cNvSpPr>
            <a:spLocks noGrp="1"/>
          </p:cNvSpPr>
          <p:nvPr>
            <p:ph type="ftr" sz="quarter" idx="3"/>
          </p:nvPr>
        </p:nvSpPr>
        <p:spPr>
          <a:xfrm>
            <a:off x="4648200" y="6427391"/>
            <a:ext cx="2895600" cy="141686"/>
          </a:xfrm>
          <a:prstGeom prst="rect">
            <a:avLst/>
          </a:prstGeom>
        </p:spPr>
        <p:txBody>
          <a:bodyPr vert="horz" lIns="91440" tIns="45720" rIns="91440" bIns="45720" rtlCol="0" anchor="ctr"/>
          <a:lstStyle>
            <a:lvl1pPr algn="ctr">
              <a:defRPr sz="800" baseline="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353042" y="6427391"/>
            <a:ext cx="3276600" cy="141686"/>
          </a:xfrm>
          <a:prstGeom prst="rect">
            <a:avLst/>
          </a:prstGeom>
        </p:spPr>
        <p:txBody>
          <a:bodyPr vert="horz" lIns="91440" tIns="45720" rIns="91440" bIns="45720" rtlCol="0" anchor="ctr"/>
          <a:lstStyle>
            <a:lvl1pPr algn="r">
              <a:defRPr sz="800" baseline="0">
                <a:solidFill>
                  <a:schemeClr val="tx1">
                    <a:lumMod val="65000"/>
                    <a:lumOff val="35000"/>
                  </a:schemeClr>
                </a:solidFill>
              </a:defRPr>
            </a:lvl1pPr>
          </a:lstStyle>
          <a:p>
            <a:fld id="{9860EDB8-5305-433F-BE41-D7A86D811DB3}" type="slidenum">
              <a:rPr lang="en-US" smtClean="0"/>
              <a:pPr/>
              <a:t>‹#›</a:t>
            </a:fld>
            <a:endParaRPr lang="en-US"/>
          </a:p>
        </p:txBody>
      </p:sp>
      <p:cxnSp>
        <p:nvCxnSpPr>
          <p:cNvPr id="7" name="Straight Connector 6">
            <a:extLst>
              <a:ext uri="{FF2B5EF4-FFF2-40B4-BE49-F238E27FC236}">
                <a16:creationId xmlns:a16="http://schemas.microsoft.com/office/drawing/2014/main" id="{D8F39A1B-8AD1-2C34-AB40-00704468E828}"/>
              </a:ext>
            </a:extLst>
          </p:cNvPr>
          <p:cNvCxnSpPr>
            <a:cxnSpLocks/>
          </p:cNvCxnSpPr>
          <p:nvPr userDrawn="1"/>
        </p:nvCxnSpPr>
        <p:spPr>
          <a:xfrm>
            <a:off x="533400" y="1104900"/>
            <a:ext cx="11119104"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550198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Lst>
  <p:txStyles>
    <p:titleStyle>
      <a:lvl1pPr algn="l" defTabSz="914400" rtl="0" eaLnBrk="1" latinLnBrk="0" hangingPunct="1">
        <a:spcBef>
          <a:spcPct val="0"/>
        </a:spcBef>
        <a:buNone/>
        <a:defRPr sz="2800" kern="1200">
          <a:solidFill>
            <a:schemeClr val="bg2">
              <a:lumMod val="25000"/>
            </a:schemeClr>
          </a:solidFill>
          <a:latin typeface="+mn-lt"/>
          <a:ea typeface="+mj-ea"/>
          <a:cs typeface="+mj-cs"/>
        </a:defRPr>
      </a:lvl1pPr>
    </p:titleStyle>
    <p:bodyStyle>
      <a:lvl1pPr marL="0" indent="0" algn="l" defTabSz="914400" rtl="0" eaLnBrk="1" latinLnBrk="0" hangingPunct="1">
        <a:lnSpc>
          <a:spcPct val="100000"/>
        </a:lnSpc>
        <a:spcBef>
          <a:spcPts val="1000"/>
        </a:spcBef>
        <a:spcAft>
          <a:spcPts val="1200"/>
        </a:spcAft>
        <a:buFontTx/>
        <a:buNone/>
        <a:defRPr lang="en-US" sz="1600" kern="1200" dirty="0">
          <a:solidFill>
            <a:schemeClr val="bg2">
              <a:lumMod val="25000"/>
            </a:schemeClr>
          </a:solidFill>
          <a:latin typeface="+mn-lt"/>
          <a:ea typeface="+mn-ea"/>
          <a:cs typeface="+mn-cs"/>
        </a:defRPr>
      </a:lvl1pPr>
      <a:lvl2pPr marL="283464" indent="-283464"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a:solidFill>
            <a:schemeClr val="bg2">
              <a:lumMod val="25000"/>
            </a:schemeClr>
          </a:solidFill>
          <a:latin typeface="+mn-lt"/>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a:solidFill>
            <a:schemeClr val="bg2">
              <a:lumMod val="25000"/>
            </a:schemeClr>
          </a:solidFill>
          <a:latin typeface="+mn-lt"/>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smtClean="0">
          <a:solidFill>
            <a:schemeClr val="bg2">
              <a:lumMod val="25000"/>
            </a:schemeClr>
          </a:solidFill>
          <a:latin typeface="+mn-lt"/>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smtClean="0">
          <a:solidFill>
            <a:schemeClr val="bg2">
              <a:lumMod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84">
          <p15:clr>
            <a:srgbClr val="F26B43"/>
          </p15:clr>
        </p15:guide>
        <p15:guide id="2" pos="336">
          <p15:clr>
            <a:srgbClr val="F26B43"/>
          </p15:clr>
        </p15:guide>
        <p15:guide id="3" pos="7320">
          <p15:clr>
            <a:srgbClr val="F26B43"/>
          </p15:clr>
        </p15:guide>
        <p15:guide id="4" orient="horz" pos="912">
          <p15:clr>
            <a:srgbClr val="F26B43"/>
          </p15:clr>
        </p15:guide>
        <p15:guide id="5" orient="horz" pos="264">
          <p15:clr>
            <a:srgbClr val="F26B43"/>
          </p15:clr>
        </p15:guide>
        <p15:guide id="6" orient="horz" pos="696">
          <p15:clr>
            <a:srgbClr val="F26B43"/>
          </p15:clr>
        </p15:guide>
        <p15:guide id="7" pos="369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66E636-D1D5-3AAC-5CD5-A2F5C585CB49}"/>
              </a:ext>
            </a:extLst>
          </p:cNvPr>
          <p:cNvSpPr>
            <a:spLocks noGrp="1"/>
          </p:cNvSpPr>
          <p:nvPr>
            <p:ph type="title"/>
          </p:nvPr>
        </p:nvSpPr>
        <p:spPr>
          <a:xfrm>
            <a:off x="382556" y="1679510"/>
            <a:ext cx="10049470" cy="989045"/>
          </a:xfrm>
        </p:spPr>
        <p:txBody>
          <a:bodyPr>
            <a:normAutofit/>
          </a:bodyPr>
          <a:lstStyle/>
          <a:p>
            <a:r>
              <a:rPr lang="en-IN" i="0" dirty="0">
                <a:solidFill>
                  <a:srgbClr val="404040"/>
                </a:solidFill>
                <a:effectLst/>
                <a:latin typeface="Plus Jakarta Sans"/>
              </a:rPr>
              <a:t>Seasonal Inventory Management</a:t>
            </a:r>
            <a:endParaRPr lang="en-US" dirty="0">
              <a:solidFill>
                <a:schemeClr val="bg2">
                  <a:lumMod val="25000"/>
                </a:schemeClr>
              </a:solidFill>
            </a:endParaRPr>
          </a:p>
        </p:txBody>
      </p:sp>
      <p:sp>
        <p:nvSpPr>
          <p:cNvPr id="5" name="Text Placeholder 4">
            <a:extLst>
              <a:ext uri="{FF2B5EF4-FFF2-40B4-BE49-F238E27FC236}">
                <a16:creationId xmlns:a16="http://schemas.microsoft.com/office/drawing/2014/main" id="{DE831F0C-52BB-6204-5BF6-C4DDD23942D3}"/>
              </a:ext>
            </a:extLst>
          </p:cNvPr>
          <p:cNvSpPr>
            <a:spLocks noGrp="1"/>
          </p:cNvSpPr>
          <p:nvPr>
            <p:ph type="body" sz="quarter" idx="10"/>
          </p:nvPr>
        </p:nvSpPr>
        <p:spPr>
          <a:xfrm>
            <a:off x="382557" y="2668555"/>
            <a:ext cx="5141166" cy="760445"/>
          </a:xfrm>
        </p:spPr>
        <p:txBody>
          <a:bodyPr>
            <a:normAutofit/>
          </a:bodyPr>
          <a:lstStyle/>
          <a:p>
            <a:pPr marL="0" indent="0" algn="l">
              <a:buNone/>
            </a:pPr>
            <a:r>
              <a:rPr lang="en-US" sz="2800" b="0" i="0" dirty="0">
                <a:solidFill>
                  <a:srgbClr val="111827"/>
                </a:solidFill>
                <a:effectLst/>
                <a:latin typeface="Plus Jakarta Sans"/>
              </a:rPr>
              <a:t>Case studies 5</a:t>
            </a:r>
          </a:p>
        </p:txBody>
      </p:sp>
      <p:pic>
        <p:nvPicPr>
          <p:cNvPr id="6" name="Picture 5">
            <a:extLst>
              <a:ext uri="{FF2B5EF4-FFF2-40B4-BE49-F238E27FC236}">
                <a16:creationId xmlns:a16="http://schemas.microsoft.com/office/drawing/2014/main" id="{5CDAAF84-6799-6B2D-F489-A4BE41519802}"/>
              </a:ext>
            </a:extLst>
          </p:cNvPr>
          <p:cNvPicPr>
            <a:picLocks noChangeAspect="1"/>
          </p:cNvPicPr>
          <p:nvPr/>
        </p:nvPicPr>
        <p:blipFill>
          <a:blip r:embed="rId2"/>
          <a:stretch>
            <a:fillRect/>
          </a:stretch>
        </p:blipFill>
        <p:spPr>
          <a:xfrm>
            <a:off x="1" y="0"/>
            <a:ext cx="12192000" cy="1054359"/>
          </a:xfrm>
          <a:prstGeom prst="rect">
            <a:avLst/>
          </a:prstGeom>
        </p:spPr>
      </p:pic>
      <p:sp>
        <p:nvSpPr>
          <p:cNvPr id="8" name="TextBox 7">
            <a:extLst>
              <a:ext uri="{FF2B5EF4-FFF2-40B4-BE49-F238E27FC236}">
                <a16:creationId xmlns:a16="http://schemas.microsoft.com/office/drawing/2014/main" id="{FB8A530D-F277-A918-4CBF-588974B4A57C}"/>
              </a:ext>
            </a:extLst>
          </p:cNvPr>
          <p:cNvSpPr txBox="1"/>
          <p:nvPr/>
        </p:nvSpPr>
        <p:spPr>
          <a:xfrm rot="10800000" flipV="1">
            <a:off x="382556" y="3450782"/>
            <a:ext cx="8229600" cy="830997"/>
          </a:xfrm>
          <a:prstGeom prst="rect">
            <a:avLst/>
          </a:prstGeom>
          <a:noFill/>
        </p:spPr>
        <p:txBody>
          <a:bodyPr wrap="square">
            <a:spAutoFit/>
          </a:bodyPr>
          <a:lstStyle/>
          <a:p>
            <a:r>
              <a:rPr lang="en-US" sz="2400" dirty="0">
                <a:solidFill>
                  <a:schemeClr val="bg2">
                    <a:lumMod val="25000"/>
                  </a:schemeClr>
                </a:solidFill>
              </a:rPr>
              <a:t>Presented by:</a:t>
            </a:r>
          </a:p>
          <a:p>
            <a:r>
              <a:rPr lang="en-US" sz="2400" dirty="0">
                <a:solidFill>
                  <a:schemeClr val="bg2">
                    <a:lumMod val="25000"/>
                  </a:schemeClr>
                </a:solidFill>
              </a:rPr>
              <a:t>Rohit Jain</a:t>
            </a:r>
          </a:p>
        </p:txBody>
      </p:sp>
    </p:spTree>
    <p:extLst>
      <p:ext uri="{BB962C8B-B14F-4D97-AF65-F5344CB8AC3E}">
        <p14:creationId xmlns:p14="http://schemas.microsoft.com/office/powerpoint/2010/main" val="2350875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IN" dirty="0"/>
              <a:t>Introduction</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pPr>
              <a:lnSpc>
                <a:spcPct val="150000"/>
              </a:lnSpc>
            </a:pPr>
            <a:r>
              <a:rPr lang="en-US" sz="2000" dirty="0" err="1"/>
              <a:t>Toyjoy</a:t>
            </a:r>
            <a:r>
              <a:rPr lang="en-US" sz="2000" dirty="0"/>
              <a:t> is a toy retail company that sells products through both physical stores and online platforms, that company observed that some products remained overstocked in warehouses while others frequently went out of stock during high demand periods. This analysis focuses on understanding sales patterns, inventory levels, and seasonal demand trends using historical data. By examining key metrics such as units sold, inventory turnover, stockout rates and revenue contribution, the goal is to identify inefficiencies in inventory planning. The insights from this analysis will help </a:t>
            </a:r>
            <a:r>
              <a:rPr lang="en-US" sz="2000" dirty="0" err="1"/>
              <a:t>Toyjoy</a:t>
            </a:r>
            <a:r>
              <a:rPr lang="en-US" sz="2000" dirty="0"/>
              <a:t> optimize stock levels, reduce excess inventory costs and ensure that high-demand products are available during peak seasons.</a:t>
            </a:r>
          </a:p>
        </p:txBody>
      </p:sp>
    </p:spTree>
    <p:extLst>
      <p:ext uri="{BB962C8B-B14F-4D97-AF65-F5344CB8AC3E}">
        <p14:creationId xmlns:p14="http://schemas.microsoft.com/office/powerpoint/2010/main" val="2957099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IN" dirty="0"/>
              <a:t>Business Background</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pPr>
              <a:lnSpc>
                <a:spcPct val="150000"/>
              </a:lnSpc>
            </a:pPr>
            <a:r>
              <a:rPr lang="en-US" sz="2000" dirty="0">
                <a:solidFill>
                  <a:srgbClr val="000000"/>
                </a:solidFill>
                <a:effectLst/>
              </a:rPr>
              <a:t>You are a data analyst at </a:t>
            </a:r>
            <a:r>
              <a:rPr lang="en-US" sz="2000" dirty="0" err="1">
                <a:solidFill>
                  <a:srgbClr val="000000"/>
                </a:solidFill>
                <a:effectLst/>
              </a:rPr>
              <a:t>Toyjoy</a:t>
            </a:r>
            <a:r>
              <a:rPr lang="en-US" sz="2000" dirty="0">
                <a:solidFill>
                  <a:srgbClr val="000000"/>
                </a:solidFill>
                <a:effectLst/>
              </a:rPr>
              <a:t>, a company that sells toys through both retail stores and online channels. After the last holiday season, management noticed excess inventory of certain products, while others were frequently out of stock. They want to optimize inventory planning to reduce overstock, avoid stockouts and improve cash flow.</a:t>
            </a:r>
            <a:endParaRPr lang="en-US" sz="2000" dirty="0"/>
          </a:p>
        </p:txBody>
      </p:sp>
    </p:spTree>
    <p:extLst>
      <p:ext uri="{BB962C8B-B14F-4D97-AF65-F5344CB8AC3E}">
        <p14:creationId xmlns:p14="http://schemas.microsoft.com/office/powerpoint/2010/main" val="3619861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IN" dirty="0"/>
              <a:t>Business Objective</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pPr>
              <a:buFont typeface="Arial" panose="020B0604020202020204" pitchFamily="34" charset="0"/>
              <a:buChar char="•"/>
            </a:pPr>
            <a:r>
              <a:rPr lang="en-US" sz="2000" dirty="0">
                <a:solidFill>
                  <a:srgbClr val="000000"/>
                </a:solidFill>
                <a:effectLst/>
              </a:rPr>
              <a:t>Identify products with high overstock and low sales.</a:t>
            </a:r>
            <a:endParaRPr lang="en-US" sz="2000" dirty="0"/>
          </a:p>
          <a:p>
            <a:pPr>
              <a:buFont typeface="Arial" panose="020B0604020202020204" pitchFamily="34" charset="0"/>
              <a:buChar char="•"/>
            </a:pPr>
            <a:r>
              <a:rPr lang="en-US" sz="2000" dirty="0">
                <a:solidFill>
                  <a:srgbClr val="000000"/>
                </a:solidFill>
                <a:effectLst/>
              </a:rPr>
              <a:t>Predict demand trends based on seasonality and historical sales.</a:t>
            </a:r>
            <a:endParaRPr lang="en-US" sz="2000" dirty="0"/>
          </a:p>
          <a:p>
            <a:pPr>
              <a:buFont typeface="Arial" panose="020B0604020202020204" pitchFamily="34" charset="0"/>
              <a:buChar char="•"/>
            </a:pPr>
            <a:r>
              <a:rPr lang="en-US" sz="2000" dirty="0">
                <a:solidFill>
                  <a:srgbClr val="000000"/>
                </a:solidFill>
                <a:effectLst/>
              </a:rPr>
              <a:t>Recommend inventory adjustments to minimize waste and lost sales.</a:t>
            </a:r>
            <a:endParaRPr lang="en-US" sz="2000" dirty="0"/>
          </a:p>
        </p:txBody>
      </p:sp>
    </p:spTree>
    <p:extLst>
      <p:ext uri="{BB962C8B-B14F-4D97-AF65-F5344CB8AC3E}">
        <p14:creationId xmlns:p14="http://schemas.microsoft.com/office/powerpoint/2010/main" val="3318039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US" dirty="0"/>
              <a:t>K</a:t>
            </a:r>
            <a:r>
              <a:rPr lang="en-IN" dirty="0"/>
              <a:t>PI’s</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r>
              <a:rPr lang="en-US" sz="2000" dirty="0"/>
              <a:t>The following KPIs were used to measure performance:</a:t>
            </a:r>
          </a:p>
          <a:p>
            <a:r>
              <a:rPr lang="en-US" sz="2000" dirty="0"/>
              <a:t>Inventory Turnover - Shows how quickly inventory is sold and replaced during a period.</a:t>
            </a:r>
          </a:p>
          <a:p>
            <a:r>
              <a:rPr lang="en-US" sz="2000" dirty="0"/>
              <a:t>Average Inventory - Represents the average stock level available over a specific time.</a:t>
            </a:r>
          </a:p>
          <a:p>
            <a:r>
              <a:rPr lang="en-US" sz="2000" dirty="0"/>
              <a:t>Total Units Sold - Total number of products sold in the selected period.</a:t>
            </a:r>
          </a:p>
          <a:p>
            <a:r>
              <a:rPr lang="en-US" sz="2000" dirty="0"/>
              <a:t>Total Revenue - Total income generated from product sales.</a:t>
            </a:r>
          </a:p>
        </p:txBody>
      </p:sp>
    </p:spTree>
    <p:extLst>
      <p:ext uri="{BB962C8B-B14F-4D97-AF65-F5344CB8AC3E}">
        <p14:creationId xmlns:p14="http://schemas.microsoft.com/office/powerpoint/2010/main" val="3083778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normAutofit/>
          </a:bodyPr>
          <a:lstStyle/>
          <a:p>
            <a:r>
              <a:rPr lang="en-IN" dirty="0"/>
              <a:t> Business Questions / Challenges</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r>
              <a:rPr lang="en-US" sz="2000" dirty="0">
                <a:solidFill>
                  <a:srgbClr val="000000"/>
                </a:solidFill>
                <a:effectLst/>
              </a:rPr>
              <a:t>Which products or categories have excess inventory that ties up capital?</a:t>
            </a:r>
            <a:endParaRPr lang="en-US" sz="2000" dirty="0"/>
          </a:p>
        </p:txBody>
      </p:sp>
      <p:pic>
        <p:nvPicPr>
          <p:cNvPr id="6" name="Picture 5">
            <a:extLst>
              <a:ext uri="{FF2B5EF4-FFF2-40B4-BE49-F238E27FC236}">
                <a16:creationId xmlns:a16="http://schemas.microsoft.com/office/drawing/2014/main" id="{1F8EE491-92C0-A02F-EC56-0EADB52F8262}"/>
              </a:ext>
            </a:extLst>
          </p:cNvPr>
          <p:cNvPicPr>
            <a:picLocks noChangeAspect="1"/>
          </p:cNvPicPr>
          <p:nvPr/>
        </p:nvPicPr>
        <p:blipFill>
          <a:blip r:embed="rId2"/>
          <a:stretch>
            <a:fillRect/>
          </a:stretch>
        </p:blipFill>
        <p:spPr>
          <a:xfrm>
            <a:off x="606056" y="2073349"/>
            <a:ext cx="5901070" cy="3774558"/>
          </a:xfrm>
          <a:prstGeom prst="rect">
            <a:avLst/>
          </a:prstGeom>
        </p:spPr>
      </p:pic>
      <p:sp>
        <p:nvSpPr>
          <p:cNvPr id="3" name="TextBox 2">
            <a:extLst>
              <a:ext uri="{FF2B5EF4-FFF2-40B4-BE49-F238E27FC236}">
                <a16:creationId xmlns:a16="http://schemas.microsoft.com/office/drawing/2014/main" id="{6CCF198C-22BC-4327-F4B7-0A0C14D1E668}"/>
              </a:ext>
            </a:extLst>
          </p:cNvPr>
          <p:cNvSpPr txBox="1"/>
          <p:nvPr/>
        </p:nvSpPr>
        <p:spPr>
          <a:xfrm>
            <a:off x="6836734" y="2732566"/>
            <a:ext cx="4029739" cy="2554545"/>
          </a:xfrm>
          <a:prstGeom prst="rect">
            <a:avLst/>
          </a:prstGeom>
          <a:noFill/>
        </p:spPr>
        <p:txBody>
          <a:bodyPr wrap="square">
            <a:spAutoFit/>
          </a:bodyPr>
          <a:lstStyle/>
          <a:p>
            <a:pPr>
              <a:buFont typeface="Arial" panose="020B0604020202020204" pitchFamily="34" charset="0"/>
              <a:buChar char="•"/>
            </a:pPr>
            <a:r>
              <a:rPr lang="en-US" sz="2000" dirty="0"/>
              <a:t>Shows how many products exist in each category.</a:t>
            </a:r>
          </a:p>
          <a:p>
            <a:pPr>
              <a:buFont typeface="Arial" panose="020B0604020202020204" pitchFamily="34" charset="0"/>
              <a:buChar char="•"/>
            </a:pPr>
            <a:endParaRPr lang="en-US" sz="2000" dirty="0"/>
          </a:p>
          <a:p>
            <a:pPr>
              <a:buFont typeface="Arial" panose="020B0604020202020204" pitchFamily="34" charset="0"/>
              <a:buChar char="•"/>
            </a:pPr>
            <a:r>
              <a:rPr lang="en-US" sz="2000" dirty="0"/>
              <a:t>Some categories have more product variety than others.</a:t>
            </a:r>
          </a:p>
          <a:p>
            <a:pPr>
              <a:buFont typeface="Arial" panose="020B0604020202020204" pitchFamily="34" charset="0"/>
              <a:buChar char="•"/>
            </a:pPr>
            <a:endParaRPr lang="en-US" sz="2000" dirty="0"/>
          </a:p>
          <a:p>
            <a:pPr>
              <a:buFont typeface="Arial" panose="020B0604020202020204" pitchFamily="34" charset="0"/>
              <a:buChar char="•"/>
            </a:pPr>
            <a:r>
              <a:rPr lang="en-US" sz="2000" dirty="0"/>
              <a:t>Helps in understanding product distribution.</a:t>
            </a:r>
          </a:p>
        </p:txBody>
      </p:sp>
    </p:spTree>
    <p:extLst>
      <p:ext uri="{BB962C8B-B14F-4D97-AF65-F5344CB8AC3E}">
        <p14:creationId xmlns:p14="http://schemas.microsoft.com/office/powerpoint/2010/main" val="2514690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normAutofit/>
          </a:bodyPr>
          <a:lstStyle/>
          <a:p>
            <a:r>
              <a:rPr lang="en-IN" dirty="0"/>
              <a:t> Business Questions / Challenges</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r>
              <a:rPr lang="en-US" sz="2000" dirty="0">
                <a:solidFill>
                  <a:srgbClr val="000000"/>
                </a:solidFill>
                <a:effectLst/>
              </a:rPr>
              <a:t>Can you identify seasonal trends in sales to guide stocking for the next period?</a:t>
            </a:r>
            <a:endParaRPr lang="en-US" sz="2000" dirty="0"/>
          </a:p>
        </p:txBody>
      </p:sp>
      <p:pic>
        <p:nvPicPr>
          <p:cNvPr id="6" name="Picture 5">
            <a:extLst>
              <a:ext uri="{FF2B5EF4-FFF2-40B4-BE49-F238E27FC236}">
                <a16:creationId xmlns:a16="http://schemas.microsoft.com/office/drawing/2014/main" id="{D27359C5-8CC2-DB1F-A615-365660A12E74}"/>
              </a:ext>
            </a:extLst>
          </p:cNvPr>
          <p:cNvPicPr>
            <a:picLocks noChangeAspect="1"/>
          </p:cNvPicPr>
          <p:nvPr/>
        </p:nvPicPr>
        <p:blipFill>
          <a:blip r:embed="rId2"/>
          <a:stretch>
            <a:fillRect/>
          </a:stretch>
        </p:blipFill>
        <p:spPr>
          <a:xfrm>
            <a:off x="444500" y="2275092"/>
            <a:ext cx="5783706" cy="3762900"/>
          </a:xfrm>
          <a:prstGeom prst="rect">
            <a:avLst/>
          </a:prstGeom>
        </p:spPr>
      </p:pic>
      <p:sp>
        <p:nvSpPr>
          <p:cNvPr id="3" name="TextBox 2">
            <a:extLst>
              <a:ext uri="{FF2B5EF4-FFF2-40B4-BE49-F238E27FC236}">
                <a16:creationId xmlns:a16="http://schemas.microsoft.com/office/drawing/2014/main" id="{36D94A4A-6DED-0255-725F-93C07B65A398}"/>
              </a:ext>
            </a:extLst>
          </p:cNvPr>
          <p:cNvSpPr txBox="1"/>
          <p:nvPr/>
        </p:nvSpPr>
        <p:spPr>
          <a:xfrm>
            <a:off x="6475227" y="2967335"/>
            <a:ext cx="4486939" cy="2554545"/>
          </a:xfrm>
          <a:prstGeom prst="rect">
            <a:avLst/>
          </a:prstGeom>
          <a:noFill/>
        </p:spPr>
        <p:txBody>
          <a:bodyPr wrap="square">
            <a:spAutoFit/>
          </a:bodyPr>
          <a:lstStyle/>
          <a:p>
            <a:pPr marL="285750" indent="-285750">
              <a:buFont typeface="Arial" panose="020B0604020202020204" pitchFamily="34" charset="0"/>
              <a:buChar char="•"/>
            </a:pPr>
            <a:r>
              <a:rPr lang="en-US" sz="2000" dirty="0"/>
              <a:t>Stock levels are highest in </a:t>
            </a:r>
            <a:r>
              <a:rPr lang="en-US" sz="2000" i="1" dirty="0"/>
              <a:t>Summer</a:t>
            </a:r>
            <a:r>
              <a:rPr lang="en-US" sz="2000" dirty="0"/>
              <a:t> and </a:t>
            </a:r>
            <a:r>
              <a:rPr lang="en-US" sz="2000" i="1" dirty="0"/>
              <a:t>Back-to-School</a:t>
            </a:r>
            <a:r>
              <a:rPr lang="en-US" sz="2000" dirty="0"/>
              <a: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Slight decrease in </a:t>
            </a:r>
            <a:r>
              <a:rPr lang="en-US" sz="2000" i="1" dirty="0"/>
              <a:t>Diwali</a:t>
            </a:r>
            <a:r>
              <a:rPr lang="en-US" sz="2000" dirty="0"/>
              <a:t> and </a:t>
            </a:r>
            <a:r>
              <a:rPr lang="en-US" sz="2000" i="1" dirty="0"/>
              <a:t>Regular</a:t>
            </a:r>
            <a:r>
              <a:rPr lang="en-US" sz="2000" dirty="0"/>
              <a:t> seasons.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Indicates seasonal inventory planning.</a:t>
            </a:r>
          </a:p>
        </p:txBody>
      </p:sp>
    </p:spTree>
    <p:extLst>
      <p:ext uri="{BB962C8B-B14F-4D97-AF65-F5344CB8AC3E}">
        <p14:creationId xmlns:p14="http://schemas.microsoft.com/office/powerpoint/2010/main" val="3566398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normAutofit/>
          </a:bodyPr>
          <a:lstStyle/>
          <a:p>
            <a:r>
              <a:rPr lang="en-IN" dirty="0"/>
              <a:t> Business Questions / Challenges</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r>
              <a:rPr lang="en-US" sz="2000" dirty="0">
                <a:solidFill>
                  <a:srgbClr val="000000"/>
                </a:solidFill>
                <a:effectLst/>
              </a:rPr>
              <a:t>There are products that all given revenue</a:t>
            </a:r>
            <a:endParaRPr lang="en-US" sz="2000" dirty="0"/>
          </a:p>
        </p:txBody>
      </p:sp>
      <p:pic>
        <p:nvPicPr>
          <p:cNvPr id="6" name="Picture 5">
            <a:extLst>
              <a:ext uri="{FF2B5EF4-FFF2-40B4-BE49-F238E27FC236}">
                <a16:creationId xmlns:a16="http://schemas.microsoft.com/office/drawing/2014/main" id="{78E645FF-5061-D46C-B0B4-1AA976B3B230}"/>
              </a:ext>
            </a:extLst>
          </p:cNvPr>
          <p:cNvPicPr>
            <a:picLocks noChangeAspect="1"/>
          </p:cNvPicPr>
          <p:nvPr/>
        </p:nvPicPr>
        <p:blipFill>
          <a:blip r:embed="rId2"/>
          <a:stretch>
            <a:fillRect/>
          </a:stretch>
        </p:blipFill>
        <p:spPr>
          <a:xfrm>
            <a:off x="479942" y="2219796"/>
            <a:ext cx="5616058" cy="3733135"/>
          </a:xfrm>
          <a:prstGeom prst="rect">
            <a:avLst/>
          </a:prstGeom>
        </p:spPr>
      </p:pic>
      <p:sp>
        <p:nvSpPr>
          <p:cNvPr id="2" name="Rectangle 1">
            <a:extLst>
              <a:ext uri="{FF2B5EF4-FFF2-40B4-BE49-F238E27FC236}">
                <a16:creationId xmlns:a16="http://schemas.microsoft.com/office/drawing/2014/main" id="{9139798F-AEF2-6B18-9773-D309480C0406}"/>
              </a:ext>
            </a:extLst>
          </p:cNvPr>
          <p:cNvSpPr>
            <a:spLocks noChangeArrowheads="1"/>
          </p:cNvSpPr>
          <p:nvPr/>
        </p:nvSpPr>
        <p:spPr bwMode="auto">
          <a:xfrm rot="10800000" flipV="1">
            <a:off x="6528390" y="2335232"/>
            <a:ext cx="4316816"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rPr>
              <a:t>Shows which products generate the highest revenue.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rPr>
              <a:t>Products like </a:t>
            </a:r>
            <a:r>
              <a:rPr kumimoji="0" lang="en-US" altLang="en-US" sz="2000" b="0" i="1" u="none" strike="noStrike" cap="none" normalizeH="0" baseline="0" dirty="0">
                <a:ln>
                  <a:noFill/>
                </a:ln>
                <a:solidFill>
                  <a:schemeClr val="tx1"/>
                </a:solidFill>
                <a:effectLst/>
              </a:rPr>
              <a:t>Robot Warrior</a:t>
            </a:r>
            <a:r>
              <a:rPr kumimoji="0" lang="en-US" altLang="en-US" sz="2000" b="0" i="0" u="none" strike="noStrike" cap="none" normalizeH="0" baseline="0" dirty="0">
                <a:ln>
                  <a:noFill/>
                </a:ln>
                <a:solidFill>
                  <a:schemeClr val="tx1"/>
                </a:solidFill>
                <a:effectLst/>
              </a:rPr>
              <a:t> and </a:t>
            </a:r>
            <a:r>
              <a:rPr kumimoji="0" lang="en-US" altLang="en-US" sz="2000" b="0" i="1" u="none" strike="noStrike" cap="none" normalizeH="0" baseline="0" dirty="0">
                <a:ln>
                  <a:noFill/>
                </a:ln>
                <a:solidFill>
                  <a:schemeClr val="tx1"/>
                </a:solidFill>
                <a:effectLst/>
              </a:rPr>
              <a:t>Superhero Figure</a:t>
            </a:r>
            <a:r>
              <a:rPr kumimoji="0" lang="en-US" altLang="en-US" sz="2000" b="0" i="0" u="none" strike="noStrike" cap="none" normalizeH="0" baseline="0" dirty="0">
                <a:ln>
                  <a:noFill/>
                </a:ln>
                <a:solidFill>
                  <a:schemeClr val="tx1"/>
                </a:solidFill>
                <a:effectLst/>
              </a:rPr>
              <a:t> perform best.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rPr>
              <a:t>Some products have much lower revenue → improvement needed.</a:t>
            </a:r>
          </a:p>
        </p:txBody>
      </p:sp>
    </p:spTree>
    <p:extLst>
      <p:ext uri="{BB962C8B-B14F-4D97-AF65-F5344CB8AC3E}">
        <p14:creationId xmlns:p14="http://schemas.microsoft.com/office/powerpoint/2010/main" val="4095220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normAutofit/>
          </a:bodyPr>
          <a:lstStyle/>
          <a:p>
            <a:r>
              <a:rPr lang="en-IN" dirty="0"/>
              <a:t> Business Questions / Challenges</a:t>
            </a:r>
            <a:endParaRPr lang="en-US" dirty="0"/>
          </a:p>
        </p:txBody>
      </p:sp>
      <p:pic>
        <p:nvPicPr>
          <p:cNvPr id="3" name="Picture 2">
            <a:extLst>
              <a:ext uri="{FF2B5EF4-FFF2-40B4-BE49-F238E27FC236}">
                <a16:creationId xmlns:a16="http://schemas.microsoft.com/office/drawing/2014/main" id="{362BFDF3-8816-D170-279D-48664B7FAB22}"/>
              </a:ext>
            </a:extLst>
          </p:cNvPr>
          <p:cNvPicPr>
            <a:picLocks noChangeAspect="1"/>
          </p:cNvPicPr>
          <p:nvPr/>
        </p:nvPicPr>
        <p:blipFill>
          <a:blip r:embed="rId2"/>
          <a:srcRect l="49558" r="989"/>
          <a:stretch/>
        </p:blipFill>
        <p:spPr>
          <a:xfrm>
            <a:off x="444500" y="1693062"/>
            <a:ext cx="4908699" cy="3601952"/>
          </a:xfrm>
          <a:prstGeom prst="rect">
            <a:avLst/>
          </a:prstGeom>
        </p:spPr>
      </p:pic>
      <p:sp>
        <p:nvSpPr>
          <p:cNvPr id="2" name="Rectangle 1">
            <a:extLst>
              <a:ext uri="{FF2B5EF4-FFF2-40B4-BE49-F238E27FC236}">
                <a16:creationId xmlns:a16="http://schemas.microsoft.com/office/drawing/2014/main" id="{63CC13A9-7088-7DCA-4C52-2B53F6E5A5FA}"/>
              </a:ext>
            </a:extLst>
          </p:cNvPr>
          <p:cNvSpPr>
            <a:spLocks noChangeArrowheads="1"/>
          </p:cNvSpPr>
          <p:nvPr/>
        </p:nvSpPr>
        <p:spPr bwMode="auto">
          <a:xfrm rot="10800000" flipV="1">
            <a:off x="6096000" y="1857357"/>
            <a:ext cx="471731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1" u="none" strike="noStrike" cap="none" normalizeH="0" baseline="0" dirty="0">
                <a:ln>
                  <a:noFill/>
                </a:ln>
                <a:solidFill>
                  <a:schemeClr val="tx1"/>
                </a:solidFill>
                <a:effectLst/>
              </a:rPr>
              <a:t>Action Figures</a:t>
            </a:r>
            <a:r>
              <a:rPr kumimoji="0" lang="en-US" altLang="en-US" sz="2000" b="0" i="0" u="none" strike="noStrike" cap="none" normalizeH="0" baseline="0" dirty="0">
                <a:ln>
                  <a:noFill/>
                </a:ln>
                <a:solidFill>
                  <a:schemeClr val="tx1"/>
                </a:solidFill>
                <a:effectLst/>
              </a:rPr>
              <a:t> contribute the highest share of revenue.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1" u="none" strike="noStrike" cap="none" normalizeH="0" baseline="0" dirty="0">
                <a:ln>
                  <a:noFill/>
                </a:ln>
                <a:solidFill>
                  <a:schemeClr val="tx1"/>
                </a:solidFill>
                <a:effectLst/>
              </a:rPr>
              <a:t>Dolls</a:t>
            </a:r>
            <a:r>
              <a:rPr kumimoji="0" lang="en-US" altLang="en-US" sz="2000" b="0" i="0" u="none" strike="noStrike" cap="none" normalizeH="0" baseline="0" dirty="0">
                <a:ln>
                  <a:noFill/>
                </a:ln>
                <a:solidFill>
                  <a:schemeClr val="tx1"/>
                </a:solidFill>
                <a:effectLst/>
              </a:rPr>
              <a:t> and </a:t>
            </a:r>
            <a:r>
              <a:rPr kumimoji="0" lang="en-US" altLang="en-US" sz="2000" b="0" i="1" u="none" strike="noStrike" cap="none" normalizeH="0" baseline="0" dirty="0">
                <a:ln>
                  <a:noFill/>
                </a:ln>
                <a:solidFill>
                  <a:schemeClr val="tx1"/>
                </a:solidFill>
                <a:effectLst/>
              </a:rPr>
              <a:t>Board Games</a:t>
            </a:r>
            <a:r>
              <a:rPr kumimoji="0" lang="en-US" altLang="en-US" sz="2000" b="0" i="0" u="none" strike="noStrike" cap="none" normalizeH="0" baseline="0" dirty="0">
                <a:ln>
                  <a:noFill/>
                </a:ln>
                <a:solidFill>
                  <a:schemeClr val="tx1"/>
                </a:solidFill>
                <a:effectLst/>
              </a:rPr>
              <a:t> also contribute significantly.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1" u="none" strike="noStrike" cap="none" normalizeH="0" baseline="0" dirty="0">
                <a:ln>
                  <a:noFill/>
                </a:ln>
                <a:solidFill>
                  <a:schemeClr val="tx1"/>
                </a:solidFill>
                <a:effectLst/>
              </a:rPr>
              <a:t>Puzzles</a:t>
            </a:r>
            <a:r>
              <a:rPr kumimoji="0" lang="en-US" altLang="en-US" sz="2000" b="0" i="0" u="none" strike="noStrike" cap="none" normalizeH="0" baseline="0" dirty="0">
                <a:ln>
                  <a:noFill/>
                </a:ln>
                <a:solidFill>
                  <a:schemeClr val="tx1"/>
                </a:solidFill>
                <a:effectLst/>
              </a:rPr>
              <a:t> have the lowest revenue share.</a:t>
            </a:r>
          </a:p>
        </p:txBody>
      </p:sp>
    </p:spTree>
    <p:extLst>
      <p:ext uri="{BB962C8B-B14F-4D97-AF65-F5344CB8AC3E}">
        <p14:creationId xmlns:p14="http://schemas.microsoft.com/office/powerpoint/2010/main" val="345185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IN" dirty="0"/>
              <a:t> Dashboard</a:t>
            </a:r>
            <a:endParaRPr lang="en-US" dirty="0"/>
          </a:p>
        </p:txBody>
      </p:sp>
      <p:pic>
        <p:nvPicPr>
          <p:cNvPr id="7" name="Picture 6">
            <a:extLst>
              <a:ext uri="{FF2B5EF4-FFF2-40B4-BE49-F238E27FC236}">
                <a16:creationId xmlns:a16="http://schemas.microsoft.com/office/drawing/2014/main" id="{EF197672-591A-0273-5982-E55A61D36968}"/>
              </a:ext>
            </a:extLst>
          </p:cNvPr>
          <p:cNvPicPr>
            <a:picLocks noChangeAspect="1"/>
          </p:cNvPicPr>
          <p:nvPr/>
        </p:nvPicPr>
        <p:blipFill>
          <a:blip r:embed="rId2"/>
          <a:stretch>
            <a:fillRect/>
          </a:stretch>
        </p:blipFill>
        <p:spPr>
          <a:xfrm>
            <a:off x="521108" y="1292940"/>
            <a:ext cx="11133936" cy="5352409"/>
          </a:xfrm>
          <a:prstGeom prst="rect">
            <a:avLst/>
          </a:prstGeom>
        </p:spPr>
      </p:pic>
    </p:spTree>
    <p:extLst>
      <p:ext uri="{BB962C8B-B14F-4D97-AF65-F5344CB8AC3E}">
        <p14:creationId xmlns:p14="http://schemas.microsoft.com/office/powerpoint/2010/main" val="2562050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A584A-A4A2-E6CB-94F7-75CBCDFA013C}"/>
              </a:ext>
            </a:extLst>
          </p:cNvPr>
          <p:cNvSpPr>
            <a:spLocks noGrp="1"/>
          </p:cNvSpPr>
          <p:nvPr>
            <p:ph type="title"/>
          </p:nvPr>
        </p:nvSpPr>
        <p:spPr/>
        <p:txBody>
          <a:bodyPr/>
          <a:lstStyle/>
          <a:p>
            <a:r>
              <a:rPr lang="en-IN" dirty="0"/>
              <a:t>Recommendations</a:t>
            </a:r>
          </a:p>
        </p:txBody>
      </p:sp>
      <p:sp>
        <p:nvSpPr>
          <p:cNvPr id="3" name="Content Placeholder 2">
            <a:extLst>
              <a:ext uri="{FF2B5EF4-FFF2-40B4-BE49-F238E27FC236}">
                <a16:creationId xmlns:a16="http://schemas.microsoft.com/office/drawing/2014/main" id="{6C0AB4E3-905B-8186-4C7D-D11B70BE6860}"/>
              </a:ext>
            </a:extLst>
          </p:cNvPr>
          <p:cNvSpPr>
            <a:spLocks noGrp="1"/>
          </p:cNvSpPr>
          <p:nvPr>
            <p:ph sz="quarter" idx="13"/>
          </p:nvPr>
        </p:nvSpPr>
        <p:spPr/>
        <p:txBody>
          <a:bodyPr>
            <a:normAutofit/>
          </a:bodyPr>
          <a:lstStyle/>
          <a:p>
            <a:pPr marL="342900" indent="-342900">
              <a:buFont typeface="Arial" panose="020B0604020202020204" pitchFamily="34" charset="0"/>
              <a:buChar char="•"/>
            </a:pPr>
            <a:r>
              <a:rPr lang="en-US" sz="2000" dirty="0"/>
              <a:t>Reduce inventory of slow-moving products to avoid excess stock and holding costs. </a:t>
            </a:r>
          </a:p>
          <a:p>
            <a:pPr marL="342900" indent="-342900">
              <a:buFont typeface="Arial" panose="020B0604020202020204" pitchFamily="34" charset="0"/>
              <a:buChar char="•"/>
            </a:pPr>
            <a:r>
              <a:rPr lang="en-US" sz="2000" dirty="0"/>
              <a:t>Ensure proper stocking of high-demand products to prevent stockouts and lost sales. </a:t>
            </a:r>
          </a:p>
          <a:p>
            <a:pPr marL="342900" indent="-342900">
              <a:buFont typeface="Arial" panose="020B0604020202020204" pitchFamily="34" charset="0"/>
              <a:buChar char="•"/>
            </a:pPr>
            <a:r>
              <a:rPr lang="en-US" sz="2000" dirty="0"/>
              <a:t>Use seasonal demand forecasting to plan inventory more accurately for peak periods. </a:t>
            </a:r>
          </a:p>
          <a:p>
            <a:pPr marL="342900" indent="-342900">
              <a:buFont typeface="Arial" panose="020B0604020202020204" pitchFamily="34" charset="0"/>
              <a:buChar char="•"/>
            </a:pPr>
            <a:r>
              <a:rPr lang="en-US" sz="2000" dirty="0"/>
              <a:t>Optimize inventory allocation across categories to improve cash flow and warehouse efficiency. </a:t>
            </a:r>
          </a:p>
          <a:p>
            <a:pPr marL="342900" indent="-342900">
              <a:buFont typeface="Arial" panose="020B0604020202020204" pitchFamily="34" charset="0"/>
              <a:buChar char="•"/>
            </a:pPr>
            <a:endParaRPr lang="en-IN" sz="2000" dirty="0"/>
          </a:p>
        </p:txBody>
      </p:sp>
    </p:spTree>
    <p:extLst>
      <p:ext uri="{BB962C8B-B14F-4D97-AF65-F5344CB8AC3E}">
        <p14:creationId xmlns:p14="http://schemas.microsoft.com/office/powerpoint/2010/main" val="2020607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US" dirty="0"/>
              <a:t>Conclusion</a:t>
            </a:r>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pPr>
              <a:lnSpc>
                <a:spcPct val="150000"/>
              </a:lnSpc>
            </a:pPr>
            <a:r>
              <a:rPr lang="en-US" sz="2000" dirty="0"/>
              <a:t>The analysis of </a:t>
            </a:r>
            <a:r>
              <a:rPr lang="en-US" sz="2000" dirty="0" err="1"/>
              <a:t>Toyjoy’s</a:t>
            </a:r>
            <a:r>
              <a:rPr lang="en-US" sz="2000" dirty="0"/>
              <a:t> inventory and sales data highlights clear differences in product demand across categories and seasons. Some products maintain high stock levels despite low sales resulting in excess inventory and increased holding costs. At the same time, several high-demand items experience stock shortages, leading to missed revenue opportunities. Prioritizing restocking for high-demand products reducing stock for slow-moving items and implementing better forecasting methods will help minimize stockouts and overstock situations. These strategies will ultimately improve cash flow, optimize warehouse capacity and support better decision-making for future inventory planning.</a:t>
            </a:r>
          </a:p>
        </p:txBody>
      </p:sp>
    </p:spTree>
    <p:extLst>
      <p:ext uri="{BB962C8B-B14F-4D97-AF65-F5344CB8AC3E}">
        <p14:creationId xmlns:p14="http://schemas.microsoft.com/office/powerpoint/2010/main" val="1289668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B0496F-9AEF-B173-616A-8E0394977E5C}"/>
              </a:ext>
            </a:extLst>
          </p:cNvPr>
          <p:cNvSpPr txBox="1"/>
          <p:nvPr/>
        </p:nvSpPr>
        <p:spPr>
          <a:xfrm>
            <a:off x="488302" y="3171149"/>
            <a:ext cx="11215395"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000000"/>
                </a:solidFill>
                <a:effectLst/>
                <a:uLnTx/>
                <a:uFillTx/>
                <a:latin typeface="Segoe UI"/>
                <a:ea typeface="+mn-ea"/>
                <a:cs typeface="+mn-cs"/>
              </a:rPr>
              <a:t>THANK YOU!</a:t>
            </a:r>
            <a:endParaRPr kumimoji="0" lang="en-IN" sz="3600"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133465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WelcomeDoc">
  <a:themeElements>
    <a:clrScheme name="Custom 1">
      <a:dk1>
        <a:srgbClr val="000000"/>
      </a:dk1>
      <a:lt1>
        <a:srgbClr val="FFFFFF"/>
      </a:lt1>
      <a:dk2>
        <a:srgbClr val="44546A"/>
      </a:dk2>
      <a:lt2>
        <a:srgbClr val="E7E6E6"/>
      </a:lt2>
      <a:accent1>
        <a:srgbClr val="4472C4"/>
      </a:accent1>
      <a:accent2>
        <a:srgbClr val="CF3D1C"/>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4889724_Win32" id="{A47D2243-58B7-4EA1-AC61-F4DDB07AC155}" vid="{5B84BEAD-BCA6-42F5-9270-6ECA397995EE}"/>
    </a:ext>
  </a:extLst>
</a:theme>
</file>

<file path=docProps/app.xml><?xml version="1.0" encoding="utf-8"?>
<Properties xmlns="http://schemas.openxmlformats.org/officeDocument/2006/extended-properties" xmlns:vt="http://schemas.openxmlformats.org/officeDocument/2006/docPropsVTypes">
  <TotalTime>211</TotalTime>
  <Words>591</Words>
  <Application>Microsoft Office PowerPoint</Application>
  <PresentationFormat>Widescreen</PresentationFormat>
  <Paragraphs>54</Paragraphs>
  <Slides>13</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Aptos</vt:lpstr>
      <vt:lpstr>Aptos Display</vt:lpstr>
      <vt:lpstr>Arial</vt:lpstr>
      <vt:lpstr>Plus Jakarta Sans</vt:lpstr>
      <vt:lpstr>Segoe UI</vt:lpstr>
      <vt:lpstr>Office Theme</vt:lpstr>
      <vt:lpstr>WelcomeDoc</vt:lpstr>
      <vt:lpstr>Seasonal Inventory Management</vt:lpstr>
      <vt:lpstr>Introduction</vt:lpstr>
      <vt:lpstr>Business Background</vt:lpstr>
      <vt:lpstr>Business Objective</vt:lpstr>
      <vt:lpstr>KPI’s</vt:lpstr>
      <vt:lpstr> Business Questions / Challenges</vt:lpstr>
      <vt:lpstr> Business Questions / Challenges</vt:lpstr>
      <vt:lpstr> Business Questions / Challenges</vt:lpstr>
      <vt:lpstr> Business Questions / Challenges</vt:lpstr>
      <vt:lpstr> Dashboard</vt:lpstr>
      <vt:lpstr>Recommendations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Rohit Jain</dc:creator>
  <cp:lastModifiedBy>Rohit Jain</cp:lastModifiedBy>
  <cp:revision>8</cp:revision>
  <dcterms:created xsi:type="dcterms:W3CDTF">2026-03-10T07:30:37Z</dcterms:created>
  <dcterms:modified xsi:type="dcterms:W3CDTF">2026-03-22T16:40:06Z</dcterms:modified>
</cp:coreProperties>
</file>